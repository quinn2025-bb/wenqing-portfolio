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61" r:id="rId6"/>
    <p:sldId id="263" r:id="rId7"/>
    <p:sldId id="264" r:id="rId8"/>
    <p:sldId id="266" r:id="rId9"/>
    <p:sldId id="268" r:id="rId10"/>
    <p:sldId id="267" r:id="rId11"/>
    <p:sldId id="269" r:id="rId12"/>
    <p:sldId id="270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0" userDrawn="1">
          <p15:clr>
            <a:srgbClr val="A4A3A4"/>
          </p15:clr>
        </p15:guide>
        <p15:guide id="2" pos="38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89FE"/>
    <a:srgbClr val="06C7FE"/>
    <a:srgbClr val="064BFE"/>
    <a:srgbClr val="6C94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30"/>
        <p:guide pos="38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7" name="椭圆 6"/>
          <p:cNvSpPr/>
          <p:nvPr userDrawn="1"/>
        </p:nvSpPr>
        <p:spPr>
          <a:xfrm>
            <a:off x="-533400" y="-842010"/>
            <a:ext cx="3422015" cy="3422015"/>
          </a:xfrm>
          <a:prstGeom prst="ellipse">
            <a:avLst/>
          </a:prstGeom>
          <a:gradFill>
            <a:gsLst>
              <a:gs pos="0">
                <a:srgbClr val="064BFE"/>
              </a:gs>
              <a:gs pos="78000">
                <a:srgbClr val="06C7FE"/>
              </a:gs>
            </a:gsLst>
            <a:lin ang="2880000" scaled="0"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 userDrawn="1"/>
        </p:nvSpPr>
        <p:spPr>
          <a:xfrm>
            <a:off x="8353425" y="-2316480"/>
            <a:ext cx="4959985" cy="4507230"/>
          </a:xfrm>
          <a:prstGeom prst="ellipse">
            <a:avLst/>
          </a:prstGeom>
          <a:gradFill>
            <a:gsLst>
              <a:gs pos="0">
                <a:srgbClr val="064BFE"/>
              </a:gs>
              <a:gs pos="78000">
                <a:srgbClr val="06C7FE"/>
              </a:gs>
            </a:gsLst>
            <a:lin ang="2880000" scaled="0"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 userDrawn="1"/>
        </p:nvSpPr>
        <p:spPr>
          <a:xfrm>
            <a:off x="9780905" y="4561840"/>
            <a:ext cx="3230880" cy="3230880"/>
          </a:xfrm>
          <a:prstGeom prst="ellipse">
            <a:avLst/>
          </a:prstGeom>
          <a:gradFill>
            <a:gsLst>
              <a:gs pos="0">
                <a:srgbClr val="064BFE"/>
              </a:gs>
              <a:gs pos="78000">
                <a:srgbClr val="06C7FE"/>
              </a:gs>
            </a:gsLst>
            <a:lin ang="2880000" scaled="0"/>
          </a:gradFill>
          <a:ln>
            <a:noFill/>
          </a:ln>
          <a:effectLst>
            <a:softEdge rad="1397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8" name="椭圆 7"/>
          <p:cNvSpPr/>
          <p:nvPr userDrawn="1"/>
        </p:nvSpPr>
        <p:spPr>
          <a:xfrm>
            <a:off x="6851015" y="1024890"/>
            <a:ext cx="2933700" cy="2238375"/>
          </a:xfrm>
          <a:prstGeom prst="ellipse">
            <a:avLst/>
          </a:prstGeom>
          <a:gradFill>
            <a:gsLst>
              <a:gs pos="0">
                <a:srgbClr val="064BFE"/>
              </a:gs>
              <a:gs pos="78000">
                <a:srgbClr val="06C7FE"/>
              </a:gs>
            </a:gsLst>
            <a:lin ang="2880000" scaled="0"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7" name="椭圆 6"/>
          <p:cNvSpPr/>
          <p:nvPr userDrawn="1"/>
        </p:nvSpPr>
        <p:spPr>
          <a:xfrm>
            <a:off x="159385" y="4438015"/>
            <a:ext cx="3422015" cy="3422015"/>
          </a:xfrm>
          <a:prstGeom prst="ellipse">
            <a:avLst/>
          </a:prstGeom>
          <a:gradFill>
            <a:gsLst>
              <a:gs pos="0">
                <a:srgbClr val="064BFE"/>
              </a:gs>
              <a:gs pos="78000">
                <a:srgbClr val="06C7FE"/>
              </a:gs>
            </a:gsLst>
            <a:lin ang="2880000" scaled="0"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4.png"/><Relationship Id="rId7" Type="http://schemas.openxmlformats.org/officeDocument/2006/relationships/image" Target="../media/image3.png"/><Relationship Id="rId6" Type="http://schemas.openxmlformats.org/officeDocument/2006/relationships/image" Target="../media/image2.png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8.xml"/><Relationship Id="rId5" Type="http://schemas.openxmlformats.org/officeDocument/2006/relationships/image" Target="../media/image6.png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image" Target="../media/image7.png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image" Target="../media/image7.png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image" Target="../media/image8.png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11555" y="1260475"/>
            <a:ext cx="10168890" cy="238760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689FE"/>
                </a:solidFill>
              </a:rPr>
              <a:t>译马网智能区域国别研究平台</a:t>
            </a:r>
            <a:r>
              <a:rPr lang="en-US" altLang="zh-CN" b="1">
                <a:solidFill>
                  <a:srgbClr val="0689FE"/>
                </a:solidFill>
              </a:rPr>
              <a:t>   </a:t>
            </a:r>
            <a:br>
              <a:rPr lang="zh-CN" altLang="en-US" b="1">
                <a:solidFill>
                  <a:srgbClr val="0689FE"/>
                </a:solidFill>
              </a:rPr>
            </a:br>
            <a:r>
              <a:rPr lang="en-US" altLang="zh-CN" b="1">
                <a:solidFill>
                  <a:srgbClr val="0689FE"/>
                </a:solidFill>
              </a:rPr>
              <a:t>—— </a:t>
            </a:r>
            <a:r>
              <a:rPr lang="zh-CN" altLang="en-US" b="1">
                <a:solidFill>
                  <a:srgbClr val="0689FE"/>
                </a:solidFill>
              </a:rPr>
              <a:t>技术翻译与文档设计方案</a:t>
            </a:r>
            <a:endParaRPr lang="zh-CN" altLang="en-US" b="1">
              <a:solidFill>
                <a:srgbClr val="0689FE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987800"/>
            <a:ext cx="9144000" cy="574040"/>
          </a:xfrm>
        </p:spPr>
        <p:txBody>
          <a:bodyPr/>
          <a:p>
            <a:r>
              <a:rPr lang="zh-CN" altLang="en-US" b="1">
                <a:solidFill>
                  <a:srgbClr val="0689FE"/>
                </a:solidFill>
              </a:rPr>
              <a:t>以用户为中心的文档重构与视觉呈现</a:t>
            </a:r>
            <a:endParaRPr lang="zh-CN" altLang="en-US" b="1">
              <a:solidFill>
                <a:srgbClr val="0689FE"/>
              </a:solidFill>
            </a:endParaRPr>
          </a:p>
        </p:txBody>
      </p:sp>
      <p:sp>
        <p:nvSpPr>
          <p:cNvPr id="5" name="椭圆 4"/>
          <p:cNvSpPr/>
          <p:nvPr/>
        </p:nvSpPr>
        <p:spPr>
          <a:xfrm>
            <a:off x="-533400" y="-842010"/>
            <a:ext cx="3422015" cy="3422015"/>
          </a:xfrm>
          <a:prstGeom prst="ellipse">
            <a:avLst/>
          </a:prstGeom>
          <a:gradFill>
            <a:gsLst>
              <a:gs pos="0">
                <a:srgbClr val="064BFE"/>
              </a:gs>
              <a:gs pos="78000">
                <a:srgbClr val="06C7FE"/>
              </a:gs>
            </a:gsLst>
            <a:lin ang="2880000" scaled="0"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8353425" y="-2316480"/>
            <a:ext cx="4959985" cy="4507230"/>
          </a:xfrm>
          <a:prstGeom prst="ellipse">
            <a:avLst/>
          </a:prstGeom>
          <a:gradFill>
            <a:gsLst>
              <a:gs pos="0">
                <a:srgbClr val="064BFE"/>
              </a:gs>
              <a:gs pos="78000">
                <a:srgbClr val="06C7FE"/>
              </a:gs>
            </a:gsLst>
            <a:lin ang="2880000" scaled="0"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953135" y="4077335"/>
            <a:ext cx="570865" cy="589915"/>
          </a:xfrm>
          <a:prstGeom prst="ellipse">
            <a:avLst/>
          </a:prstGeom>
          <a:gradFill>
            <a:gsLst>
              <a:gs pos="0">
                <a:srgbClr val="064BFE"/>
              </a:gs>
              <a:gs pos="78000">
                <a:srgbClr val="06C7FE"/>
              </a:gs>
            </a:gsLst>
            <a:lin ang="2880000" scaled="0"/>
          </a:gradFill>
          <a:ln>
            <a:noFill/>
          </a:ln>
          <a:effectLst>
            <a:softEdge rad="1016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9780905" y="4561840"/>
            <a:ext cx="3230880" cy="3230880"/>
          </a:xfrm>
          <a:prstGeom prst="ellipse">
            <a:avLst/>
          </a:prstGeom>
          <a:gradFill>
            <a:gsLst>
              <a:gs pos="0">
                <a:srgbClr val="064BFE"/>
              </a:gs>
              <a:gs pos="78000">
                <a:srgbClr val="06C7FE"/>
              </a:gs>
            </a:gsLst>
            <a:lin ang="2880000" scaled="0"/>
          </a:gradFill>
          <a:ln>
            <a:noFill/>
          </a:ln>
          <a:effectLst>
            <a:softEdge rad="1397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153160" y="3890010"/>
            <a:ext cx="570865" cy="589915"/>
          </a:xfrm>
          <a:prstGeom prst="ellipse">
            <a:avLst/>
          </a:prstGeom>
          <a:gradFill>
            <a:gsLst>
              <a:gs pos="0">
                <a:srgbClr val="064BFE"/>
              </a:gs>
              <a:gs pos="78000">
                <a:srgbClr val="06C7FE"/>
              </a:gs>
            </a:gsLst>
            <a:lin ang="2880000" scaled="0"/>
          </a:gradFill>
          <a:ln>
            <a:noFill/>
          </a:ln>
          <a:effectLst>
            <a:softEdge rad="1016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4512310" y="4838700"/>
            <a:ext cx="863600" cy="892175"/>
          </a:xfrm>
          <a:prstGeom prst="ellipse">
            <a:avLst/>
          </a:prstGeom>
          <a:gradFill>
            <a:gsLst>
              <a:gs pos="0">
                <a:srgbClr val="064BFE"/>
              </a:gs>
              <a:gs pos="78000">
                <a:srgbClr val="06C7FE"/>
              </a:gs>
            </a:gsLst>
            <a:lin ang="2880000" scaled="0"/>
          </a:gradFill>
          <a:ln>
            <a:noFill/>
          </a:ln>
          <a:effectLst>
            <a:softEdge rad="3429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1887220" y="5325110"/>
            <a:ext cx="886460" cy="916305"/>
          </a:xfrm>
          <a:prstGeom prst="ellipse">
            <a:avLst/>
          </a:prstGeom>
          <a:gradFill>
            <a:gsLst>
              <a:gs pos="0">
                <a:srgbClr val="064BFE"/>
              </a:gs>
              <a:gs pos="78000">
                <a:srgbClr val="06C7FE"/>
              </a:gs>
            </a:gsLst>
            <a:lin ang="2880000" scaled="0"/>
          </a:gradFill>
          <a:ln>
            <a:noFill/>
          </a:ln>
          <a:effectLst>
            <a:softEdge rad="2413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>
            <a:off x="-933450" y="484505"/>
            <a:ext cx="5347970" cy="5735320"/>
            <a:chOff x="5389" y="174"/>
            <a:chExt cx="8422" cy="9032"/>
          </a:xfrm>
        </p:grpSpPr>
        <p:sp>
          <p:nvSpPr>
            <p:cNvPr id="5" name="椭圆 4"/>
            <p:cNvSpPr/>
            <p:nvPr/>
          </p:nvSpPr>
          <p:spPr>
            <a:xfrm>
              <a:off x="5389" y="638"/>
              <a:ext cx="8422" cy="8422"/>
            </a:xfrm>
            <a:prstGeom prst="ellipse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6218" y="174"/>
              <a:ext cx="3389" cy="90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3435" y="1915160"/>
            <a:ext cx="1881505" cy="2874645"/>
          </a:xfrm>
        </p:spPr>
        <p:txBody>
          <a:bodyPr>
            <a:noAutofit/>
          </a:bodyPr>
          <a:p>
            <a:pPr algn="r"/>
            <a:r>
              <a:rPr lang="zh-CN" altLang="en-US" sz="8000" b="1">
                <a:solidFill>
                  <a:srgbClr val="0689F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目</a:t>
            </a:r>
            <a:br>
              <a:rPr lang="zh-CN" altLang="en-US" sz="8000" b="1">
                <a:solidFill>
                  <a:srgbClr val="0689F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zh-CN" altLang="en-US" sz="8000" b="1">
                <a:solidFill>
                  <a:srgbClr val="0689F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录</a:t>
            </a:r>
            <a:endParaRPr lang="zh-CN" altLang="en-US" sz="8000" b="1">
              <a:solidFill>
                <a:srgbClr val="0689F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8" name="椭圆 7"/>
          <p:cNvSpPr/>
          <p:nvPr/>
        </p:nvSpPr>
        <p:spPr>
          <a:xfrm>
            <a:off x="-1071880" y="5037455"/>
            <a:ext cx="3230880" cy="3230880"/>
          </a:xfrm>
          <a:prstGeom prst="ellipse">
            <a:avLst/>
          </a:prstGeom>
          <a:gradFill>
            <a:gsLst>
              <a:gs pos="0">
                <a:srgbClr val="064BFE"/>
              </a:gs>
              <a:gs pos="78000">
                <a:srgbClr val="06C7FE"/>
              </a:gs>
            </a:gsLst>
            <a:lin ang="2880000" scaled="0"/>
          </a:gradFill>
          <a:ln>
            <a:noFill/>
          </a:ln>
          <a:effectLst>
            <a:softEdge rad="1397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 rot="10800000">
            <a:off x="3871595" y="1898650"/>
            <a:ext cx="206375" cy="213360"/>
          </a:xfrm>
          <a:prstGeom prst="ellipse">
            <a:avLst/>
          </a:prstGeom>
          <a:gradFill>
            <a:gsLst>
              <a:gs pos="0">
                <a:srgbClr val="064BFE"/>
              </a:gs>
              <a:gs pos="78000">
                <a:srgbClr val="06C7FE"/>
              </a:gs>
            </a:gsLst>
            <a:lin ang="2880000" scaled="0"/>
          </a:gradFill>
          <a:ln>
            <a:noFill/>
          </a:ln>
          <a:effectLst>
            <a:outerShdw blurRad="50800" dist="50800" dir="3060000" sx="74000" sy="74000" algn="ctr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648200" y="1729740"/>
            <a:ext cx="279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制作流程与框架</a:t>
            </a:r>
            <a:endParaRPr lang="zh-CN" altLang="en-US" sz="2800"/>
          </a:p>
        </p:txBody>
      </p:sp>
      <p:sp>
        <p:nvSpPr>
          <p:cNvPr id="11" name="椭圆 10"/>
          <p:cNvSpPr/>
          <p:nvPr/>
        </p:nvSpPr>
        <p:spPr>
          <a:xfrm rot="10800000">
            <a:off x="3881755" y="4799330"/>
            <a:ext cx="206375" cy="213360"/>
          </a:xfrm>
          <a:prstGeom prst="ellipse">
            <a:avLst/>
          </a:prstGeom>
          <a:gradFill>
            <a:gsLst>
              <a:gs pos="0">
                <a:srgbClr val="064BFE"/>
              </a:gs>
              <a:gs pos="78000">
                <a:srgbClr val="06C7FE"/>
              </a:gs>
            </a:gsLst>
            <a:lin ang="2880000" scaled="0"/>
          </a:gradFill>
          <a:ln>
            <a:noFill/>
          </a:ln>
          <a:effectLst>
            <a:outerShdw blurRad="50800" dist="50800" dir="3060000" sx="74000" sy="74000" algn="ctr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658360" y="4630420"/>
            <a:ext cx="279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翻译策略</a:t>
            </a:r>
            <a:endParaRPr lang="zh-CN" altLang="en-US" sz="2800"/>
          </a:p>
        </p:txBody>
      </p:sp>
      <p:sp>
        <p:nvSpPr>
          <p:cNvPr id="13" name="椭圆 12"/>
          <p:cNvSpPr/>
          <p:nvPr/>
        </p:nvSpPr>
        <p:spPr>
          <a:xfrm rot="10800000">
            <a:off x="4313555" y="3290570"/>
            <a:ext cx="206375" cy="213360"/>
          </a:xfrm>
          <a:prstGeom prst="ellipse">
            <a:avLst/>
          </a:prstGeom>
          <a:gradFill>
            <a:gsLst>
              <a:gs pos="0">
                <a:srgbClr val="064BFE"/>
              </a:gs>
              <a:gs pos="78000">
                <a:srgbClr val="06C7FE"/>
              </a:gs>
            </a:gsLst>
            <a:lin ang="2880000" scaled="0"/>
          </a:gradFill>
          <a:ln>
            <a:noFill/>
          </a:ln>
          <a:effectLst>
            <a:outerShdw blurRad="50800" dist="50800" dir="3060000" sx="74000" sy="74000" algn="ctr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5090160" y="3121660"/>
            <a:ext cx="279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排版与视觉设计</a:t>
            </a:r>
            <a:endParaRPr lang="zh-CN" altLang="en-US" sz="2800"/>
          </a:p>
        </p:txBody>
      </p:sp>
      <p:sp>
        <p:nvSpPr>
          <p:cNvPr id="16" name="椭圆 15"/>
          <p:cNvSpPr/>
          <p:nvPr/>
        </p:nvSpPr>
        <p:spPr>
          <a:xfrm>
            <a:off x="-582295" y="-1506855"/>
            <a:ext cx="3422015" cy="3422015"/>
          </a:xfrm>
          <a:prstGeom prst="ellipse">
            <a:avLst/>
          </a:prstGeom>
          <a:gradFill>
            <a:gsLst>
              <a:gs pos="0">
                <a:srgbClr val="064BFE"/>
              </a:gs>
              <a:gs pos="78000">
                <a:srgbClr val="06C7FE"/>
              </a:gs>
            </a:gsLst>
            <a:lin ang="2880000" scaled="0"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8168640" y="-2049780"/>
            <a:ext cx="4959985" cy="4507230"/>
          </a:xfrm>
          <a:prstGeom prst="ellipse">
            <a:avLst/>
          </a:prstGeom>
          <a:gradFill>
            <a:gsLst>
              <a:gs pos="0">
                <a:srgbClr val="064BFE"/>
              </a:gs>
              <a:gs pos="78000">
                <a:srgbClr val="06C7FE"/>
              </a:gs>
            </a:gsLst>
            <a:lin ang="2880000" scaled="0"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9951720" y="4630420"/>
            <a:ext cx="3422015" cy="3422015"/>
          </a:xfrm>
          <a:prstGeom prst="ellipse">
            <a:avLst/>
          </a:prstGeom>
          <a:gradFill>
            <a:gsLst>
              <a:gs pos="0">
                <a:srgbClr val="064BFE"/>
              </a:gs>
              <a:gs pos="78000">
                <a:srgbClr val="06C7FE"/>
              </a:gs>
            </a:gsLst>
            <a:lin ang="2880000" scaled="0"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74675" y="205105"/>
            <a:ext cx="2626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制作流程与框架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711450" y="205105"/>
            <a:ext cx="2626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翻译策略</a:t>
            </a:r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006340" y="205105"/>
            <a:ext cx="2626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排版与视觉设计</a:t>
            </a:r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1097280" y="554355"/>
            <a:ext cx="1584000" cy="54000"/>
          </a:xfrm>
          <a:prstGeom prst="roundRect">
            <a:avLst/>
          </a:prstGeom>
          <a:solidFill>
            <a:srgbClr val="0689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482600" y="908050"/>
            <a:ext cx="26269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800" b="1">
                <a:solidFill>
                  <a:srgbClr val="0689FE"/>
                </a:solidFill>
              </a:rPr>
              <a:t>三大步骤</a:t>
            </a:r>
            <a:endParaRPr lang="zh-CN" altLang="en-US" sz="2800" b="1">
              <a:solidFill>
                <a:srgbClr val="0689FE"/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494665" y="1656715"/>
            <a:ext cx="5263515" cy="1855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algn="just" fontAlgn="auto">
              <a:spcAft>
                <a:spcPts val="400"/>
              </a:spcAft>
              <a:buFont typeface="+mj-lt"/>
              <a:buAutoNum type="arabicPeriod"/>
            </a:pPr>
            <a:r>
              <a:rPr lang="zh-CN" altLang="en-US" b="1"/>
              <a:t>文本整理</a:t>
            </a:r>
            <a:r>
              <a:rPr lang="en-US" altLang="zh-CN"/>
              <a:t> : </a:t>
            </a:r>
            <a:r>
              <a:rPr lang="zh-CN" altLang="en-US"/>
              <a:t>通读赛题资料，提取核心功能点，剔除冗余信息。</a:t>
            </a:r>
            <a:endParaRPr lang="zh-CN" altLang="en-US"/>
          </a:p>
          <a:p>
            <a:pPr marL="342900" indent="-342900" algn="just" fontAlgn="auto">
              <a:spcAft>
                <a:spcPts val="400"/>
              </a:spcAft>
              <a:buFont typeface="+mj-lt"/>
              <a:buAutoNum type="arabicPeriod"/>
            </a:pPr>
            <a:r>
              <a:rPr lang="zh-CN" altLang="en-US" b="1"/>
              <a:t>框架梳理</a:t>
            </a:r>
            <a:r>
              <a:rPr lang="en-US" altLang="zh-CN"/>
              <a:t>: </a:t>
            </a:r>
            <a:r>
              <a:rPr lang="zh-CN" altLang="en-US"/>
              <a:t>确立</a:t>
            </a:r>
            <a:r>
              <a:rPr lang="en-US" altLang="zh-CN"/>
              <a:t>“</a:t>
            </a:r>
            <a:r>
              <a:rPr lang="zh-CN" altLang="en-US"/>
              <a:t>先总后分</a:t>
            </a:r>
            <a:r>
              <a:rPr lang="en-US" altLang="zh-CN"/>
              <a:t>”</a:t>
            </a:r>
            <a:r>
              <a:rPr lang="zh-CN" altLang="en-US"/>
              <a:t>的逻辑，打破原有流水账式结构。</a:t>
            </a:r>
            <a:endParaRPr lang="zh-CN" altLang="en-US"/>
          </a:p>
          <a:p>
            <a:pPr marL="342900" indent="-342900" algn="just" fontAlgn="auto">
              <a:spcAft>
                <a:spcPts val="400"/>
              </a:spcAft>
              <a:buFont typeface="+mj-lt"/>
              <a:buAutoNum type="arabicPeriod"/>
            </a:pPr>
            <a:r>
              <a:rPr lang="zh-CN" altLang="en-US" b="1"/>
              <a:t>翻译与重构</a:t>
            </a:r>
            <a:r>
              <a:rPr lang="en-US" altLang="zh-CN"/>
              <a:t>: </a:t>
            </a:r>
            <a:r>
              <a:rPr lang="zh-CN" altLang="en-US"/>
              <a:t>确认受众群体，基于受众特点和需求进行技术写作。</a:t>
            </a:r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6116955" y="885190"/>
            <a:ext cx="26269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800" b="1">
                <a:solidFill>
                  <a:srgbClr val="0689FE"/>
                </a:solidFill>
              </a:rPr>
              <a:t>内容框架策略</a:t>
            </a:r>
            <a:endParaRPr lang="zh-CN" altLang="en-US" sz="2800" b="1">
              <a:solidFill>
                <a:srgbClr val="0689FE"/>
              </a:solidFill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6129020" y="1633855"/>
            <a:ext cx="5447665" cy="19069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 fontAlgn="auto">
              <a:spcAft>
                <a:spcPts val="400"/>
              </a:spcAft>
              <a:buFont typeface="+mj-lt"/>
              <a:buNone/>
            </a:pPr>
            <a:r>
              <a:rPr lang="zh-CN" altLang="en-US" b="1">
                <a:solidFill>
                  <a:srgbClr val="0689FE"/>
                </a:solidFill>
              </a:rPr>
              <a:t>总体原则</a:t>
            </a:r>
            <a:endParaRPr lang="zh-CN" altLang="en-US">
              <a:solidFill>
                <a:srgbClr val="0689FE"/>
              </a:solidFill>
            </a:endParaRPr>
          </a:p>
          <a:p>
            <a:pPr marL="28575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b="1"/>
              <a:t>总</a:t>
            </a:r>
            <a:r>
              <a:rPr lang="en-US" altLang="zh-CN"/>
              <a:t>: </a:t>
            </a:r>
            <a:r>
              <a:rPr lang="zh-CN" altLang="en-US"/>
              <a:t>开篇点明行业痛点与平台核心价值，建立第一印象。</a:t>
            </a:r>
            <a:endParaRPr lang="zh-CN" altLang="en-US"/>
          </a:p>
          <a:p>
            <a:pPr marL="28575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b="1"/>
              <a:t>分</a:t>
            </a:r>
            <a:r>
              <a:rPr lang="en-US" altLang="zh-CN"/>
              <a:t>: </a:t>
            </a:r>
            <a:r>
              <a:rPr lang="zh-CN" altLang="en-US"/>
              <a:t>按照赛题素材，将功能拆解为</a:t>
            </a:r>
            <a:r>
              <a:rPr lang="en-US" altLang="zh-CN"/>
              <a:t>5</a:t>
            </a:r>
            <a:r>
              <a:rPr lang="zh-CN" altLang="en-US"/>
              <a:t>个模块，详细突出平台特点。</a:t>
            </a:r>
            <a:endParaRPr lang="zh-CN" altLang="en-US"/>
          </a:p>
          <a:p>
            <a:pPr marL="28575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b="1"/>
              <a:t>分</a:t>
            </a:r>
            <a:r>
              <a:rPr lang="zh-CN" altLang="en-US"/>
              <a:t>：强调平台的技术优势，强化用户信任。</a:t>
            </a:r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5"/>
            </p:custDataLst>
          </p:nvPr>
        </p:nvSpPr>
        <p:spPr>
          <a:xfrm>
            <a:off x="6176010" y="3811905"/>
            <a:ext cx="5263515" cy="1353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spcAft>
                <a:spcPts val="400"/>
              </a:spcAft>
              <a:buFont typeface="+mj-lt"/>
              <a:buNone/>
            </a:pPr>
            <a:r>
              <a:rPr lang="zh-CN" altLang="en-US" b="1">
                <a:solidFill>
                  <a:srgbClr val="0689FE"/>
                </a:solidFill>
              </a:rPr>
              <a:t>信息层级</a:t>
            </a:r>
            <a:endParaRPr lang="zh-CN" altLang="en-US">
              <a:solidFill>
                <a:srgbClr val="0689FE"/>
              </a:solidFill>
            </a:endParaRPr>
          </a:p>
          <a:p>
            <a:pPr marL="285750" indent="-285750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/>
              <a:t>第一层：解决了什么问题？（</a:t>
            </a:r>
            <a:r>
              <a:rPr lang="en-US" altLang="zh-CN"/>
              <a:t>What &amp; Why</a:t>
            </a:r>
            <a:r>
              <a:rPr lang="zh-CN" altLang="en-US"/>
              <a:t>）</a:t>
            </a:r>
            <a:endParaRPr lang="zh-CN" altLang="en-US"/>
          </a:p>
          <a:p>
            <a:pPr marL="285750" indent="-285750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/>
              <a:t>第二层：具体怎么操作？（</a:t>
            </a:r>
            <a:r>
              <a:rPr lang="en-US" altLang="zh-CN"/>
              <a:t>How</a:t>
            </a:r>
            <a:r>
              <a:rPr lang="zh-CN" altLang="en-US"/>
              <a:t>）</a:t>
            </a:r>
            <a:endParaRPr lang="zh-CN" altLang="en-US"/>
          </a:p>
          <a:p>
            <a:pPr marL="285750" indent="-285750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/>
              <a:t>第三层：有什么技术支撑？（</a:t>
            </a:r>
            <a:r>
              <a:rPr lang="en-US" altLang="zh-CN"/>
              <a:t>Tech Specs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574675" y="3846195"/>
            <a:ext cx="5314950" cy="2297430"/>
          </a:xfrm>
          <a:prstGeom prst="roundRect">
            <a:avLst/>
          </a:prstGeom>
          <a:blipFill rotWithShape="1">
            <a:blip r:embed="rId6"/>
            <a:stretch>
              <a:fillRect/>
            </a:stretch>
          </a:blipFill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0689FE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812925" y="6143625"/>
            <a:ext cx="2626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tx1"/>
                </a:solidFill>
              </a:rPr>
              <a:t>内容大纲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7522845" y="4944110"/>
            <a:ext cx="4959985" cy="4507230"/>
          </a:xfrm>
          <a:prstGeom prst="ellipse">
            <a:avLst/>
          </a:prstGeom>
          <a:gradFill>
            <a:gsLst>
              <a:gs pos="0">
                <a:srgbClr val="064BFE"/>
              </a:gs>
              <a:gs pos="78000">
                <a:srgbClr val="06C7FE"/>
              </a:gs>
            </a:gsLst>
            <a:lin ang="2880000" scaled="0"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74675" y="205105"/>
            <a:ext cx="2626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制作流程与框架</a:t>
            </a:r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11450" y="205105"/>
            <a:ext cx="2626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tx1"/>
                </a:solidFill>
              </a:rPr>
              <a:t>翻译策略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006340" y="205105"/>
            <a:ext cx="2626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排版与视觉设计</a:t>
            </a:r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3543300" y="554355"/>
            <a:ext cx="972000" cy="54000"/>
          </a:xfrm>
          <a:prstGeom prst="roundRect">
            <a:avLst/>
          </a:prstGeom>
          <a:solidFill>
            <a:srgbClr val="0689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482600" y="908050"/>
            <a:ext cx="38855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800" b="1">
                <a:solidFill>
                  <a:srgbClr val="0689FE"/>
                </a:solidFill>
              </a:rPr>
              <a:t>受众定位与语言风格</a:t>
            </a:r>
            <a:endParaRPr lang="zh-CN" altLang="en-US" sz="2800" b="1">
              <a:solidFill>
                <a:srgbClr val="0689FE"/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494665" y="1697355"/>
            <a:ext cx="5263515" cy="13017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 fontAlgn="auto">
              <a:spcAft>
                <a:spcPts val="400"/>
              </a:spcAft>
              <a:buFont typeface="+mj-lt"/>
              <a:buNone/>
            </a:pPr>
            <a:r>
              <a:rPr lang="zh-CN" altLang="en-US" b="1">
                <a:solidFill>
                  <a:srgbClr val="0689FE"/>
                </a:solidFill>
              </a:rPr>
              <a:t>受众分析</a:t>
            </a:r>
            <a:endParaRPr lang="zh-CN" altLang="en-US"/>
          </a:p>
          <a:p>
            <a:pPr marL="28575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b="1"/>
              <a:t>核心用户</a:t>
            </a:r>
            <a:r>
              <a:rPr lang="zh-CN" altLang="en-US"/>
              <a:t>：</a:t>
            </a:r>
            <a:r>
              <a:rPr lang="en-US" altLang="zh-CN"/>
              <a:t> </a:t>
            </a:r>
            <a:r>
              <a:rPr lang="zh-CN" altLang="en-US"/>
              <a:t>高校师生、科研机构研究员。</a:t>
            </a:r>
            <a:endParaRPr lang="zh-CN" altLang="en-US"/>
          </a:p>
          <a:p>
            <a:pPr marL="28575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b="1"/>
              <a:t>需求</a:t>
            </a:r>
            <a:r>
              <a:rPr lang="zh-CN" altLang="en-US"/>
              <a:t>：</a:t>
            </a:r>
            <a:r>
              <a:rPr lang="en-US" altLang="zh-CN"/>
              <a:t> </a:t>
            </a:r>
            <a:r>
              <a:rPr lang="zh-CN" altLang="en-US"/>
              <a:t>需要专业准确的信息，但讨厌晦涩难懂的说明书。</a:t>
            </a:r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6116955" y="885190"/>
            <a:ext cx="26269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800" b="1">
                <a:solidFill>
                  <a:srgbClr val="0689FE"/>
                </a:solidFill>
              </a:rPr>
              <a:t>标题设计思路</a:t>
            </a:r>
            <a:endParaRPr lang="zh-CN" altLang="en-US" sz="2800" b="1">
              <a:solidFill>
                <a:srgbClr val="0689FE"/>
              </a:solidFill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6129020" y="1674495"/>
            <a:ext cx="5263515" cy="13017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 fontAlgn="auto">
              <a:spcAft>
                <a:spcPts val="400"/>
              </a:spcAft>
              <a:buFont typeface="+mj-lt"/>
              <a:buNone/>
            </a:pPr>
            <a:r>
              <a:rPr lang="zh-CN" altLang="en-US" b="1">
                <a:solidFill>
                  <a:srgbClr val="0689FE"/>
                </a:solidFill>
              </a:rPr>
              <a:t>对称与直观</a:t>
            </a:r>
            <a:endParaRPr lang="zh-CN" altLang="en-US">
              <a:solidFill>
                <a:srgbClr val="0689FE"/>
              </a:solidFill>
            </a:endParaRPr>
          </a:p>
          <a:p>
            <a:pPr marL="28575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/>
              <a:t> </a:t>
            </a:r>
            <a:r>
              <a:rPr lang="zh-CN" altLang="en-US"/>
              <a:t>采用</a:t>
            </a:r>
            <a:r>
              <a:rPr lang="en-US" altLang="zh-CN"/>
              <a:t> “</a:t>
            </a:r>
            <a:r>
              <a:rPr lang="zh-CN" altLang="en-US"/>
              <a:t>主标题</a:t>
            </a:r>
            <a:r>
              <a:rPr lang="en-US" altLang="zh-CN"/>
              <a:t> + </a:t>
            </a:r>
            <a:r>
              <a:rPr lang="zh-CN" altLang="en-US"/>
              <a:t>副标题</a:t>
            </a:r>
            <a:r>
              <a:rPr lang="en-US" altLang="zh-CN"/>
              <a:t>” </a:t>
            </a:r>
            <a:r>
              <a:rPr lang="zh-CN" altLang="en-US"/>
              <a:t>的形式，即</a:t>
            </a:r>
            <a:r>
              <a:rPr lang="en-US" altLang="zh-CN"/>
              <a:t>“</a:t>
            </a:r>
            <a:r>
              <a:rPr lang="zh-CN" altLang="en-US"/>
              <a:t>动作导向</a:t>
            </a:r>
            <a:r>
              <a:rPr lang="en-US" altLang="zh-CN"/>
              <a:t>+</a:t>
            </a:r>
            <a:r>
              <a:rPr lang="zh-CN" altLang="en-US"/>
              <a:t>价值导向</a:t>
            </a:r>
            <a:r>
              <a:rPr lang="en-US" altLang="zh-CN"/>
              <a:t>”</a:t>
            </a:r>
            <a:r>
              <a:rPr lang="zh-CN" altLang="en-US"/>
              <a:t>。</a:t>
            </a:r>
            <a:endParaRPr lang="zh-CN" altLang="en-US"/>
          </a:p>
          <a:p>
            <a:pPr marL="28575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/>
              <a:t>让读者扫描标题即可掌握该板块的核心用途。</a:t>
            </a:r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-1286510" y="5279390"/>
            <a:ext cx="4959985" cy="4507230"/>
          </a:xfrm>
          <a:prstGeom prst="ellipse">
            <a:avLst/>
          </a:prstGeom>
          <a:gradFill>
            <a:gsLst>
              <a:gs pos="0">
                <a:srgbClr val="064BFE"/>
              </a:gs>
              <a:gs pos="78000">
                <a:srgbClr val="06C7FE"/>
              </a:gs>
            </a:gsLst>
            <a:lin ang="2880000" scaled="0"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494665" y="3070860"/>
            <a:ext cx="5263515" cy="15786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 fontAlgn="auto">
              <a:spcAft>
                <a:spcPts val="400"/>
              </a:spcAft>
              <a:buFont typeface="+mj-lt"/>
              <a:buNone/>
            </a:pPr>
            <a:r>
              <a:rPr lang="zh-CN" altLang="en-US" b="1">
                <a:solidFill>
                  <a:srgbClr val="0689FE"/>
                </a:solidFill>
              </a:rPr>
              <a:t>语言风格定位</a:t>
            </a:r>
            <a:endParaRPr lang="zh-CN" altLang="en-US"/>
          </a:p>
          <a:p>
            <a:pPr marL="28575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b="1"/>
              <a:t>准确</a:t>
            </a:r>
            <a:r>
              <a:rPr lang="en-US" altLang="zh-CN"/>
              <a:t>: </a:t>
            </a:r>
            <a:r>
              <a:rPr lang="zh-CN" altLang="en-US"/>
              <a:t>核心术语（如</a:t>
            </a:r>
            <a:r>
              <a:rPr lang="en-US" altLang="zh-CN"/>
              <a:t>NLP</a:t>
            </a:r>
            <a:r>
              <a:rPr lang="zh-CN" altLang="en-US"/>
              <a:t>、分布式爬虫）保持专业严谨。</a:t>
            </a:r>
            <a:endParaRPr lang="zh-CN" altLang="en-US"/>
          </a:p>
          <a:p>
            <a:pPr marL="28575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b="1"/>
              <a:t>亲切</a:t>
            </a:r>
            <a:r>
              <a:rPr lang="en-US" altLang="zh-CN"/>
              <a:t>: </a:t>
            </a:r>
            <a:r>
              <a:rPr lang="zh-CN" altLang="en-US"/>
              <a:t>采用</a:t>
            </a:r>
            <a:r>
              <a:rPr lang="en-US" altLang="zh-CN"/>
              <a:t>“</a:t>
            </a:r>
            <a:r>
              <a:rPr lang="zh-CN" altLang="en-US"/>
              <a:t>宣传产品</a:t>
            </a:r>
            <a:r>
              <a:rPr lang="en-US" altLang="zh-CN"/>
              <a:t>”</a:t>
            </a:r>
            <a:r>
              <a:rPr lang="zh-CN" altLang="en-US"/>
              <a:t>的语调，避免过度学术化，拉近与读者的距离。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7724775" y="6184265"/>
            <a:ext cx="2626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tx1"/>
                </a:solidFill>
              </a:rPr>
              <a:t>标题截图示例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6146800" y="3176270"/>
            <a:ext cx="5681345" cy="296735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6990" y="3385820"/>
            <a:ext cx="5181600" cy="80835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6990" y="4279265"/>
            <a:ext cx="5180400" cy="74388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6990" y="5122545"/>
            <a:ext cx="5180400" cy="8962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74675" y="205105"/>
            <a:ext cx="2626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制作流程与框架</a:t>
            </a:r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11450" y="205105"/>
            <a:ext cx="2626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tx1"/>
                </a:solidFill>
              </a:rPr>
              <a:t>翻译策略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006340" y="205105"/>
            <a:ext cx="2626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排版与视觉设计</a:t>
            </a:r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3543300" y="554355"/>
            <a:ext cx="972000" cy="54000"/>
          </a:xfrm>
          <a:prstGeom prst="roundRect">
            <a:avLst/>
          </a:prstGeom>
          <a:solidFill>
            <a:srgbClr val="0689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482600" y="775970"/>
            <a:ext cx="38855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800" b="1">
                <a:solidFill>
                  <a:srgbClr val="0689FE"/>
                </a:solidFill>
              </a:rPr>
              <a:t>内容重构亮点</a:t>
            </a:r>
            <a:endParaRPr lang="zh-CN" altLang="en-US" sz="2800" b="1">
              <a:solidFill>
                <a:srgbClr val="0689FE"/>
              </a:solidFill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7633335" y="4748530"/>
            <a:ext cx="4959985" cy="4507230"/>
          </a:xfrm>
          <a:prstGeom prst="ellipse">
            <a:avLst/>
          </a:prstGeom>
          <a:gradFill>
            <a:gsLst>
              <a:gs pos="0">
                <a:srgbClr val="064BFE"/>
              </a:gs>
              <a:gs pos="78000">
                <a:srgbClr val="06C7FE"/>
              </a:gs>
            </a:gsLst>
            <a:lin ang="2880000" scaled="0"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2"/>
            </p:custDataLst>
          </p:nvPr>
        </p:nvSpPr>
        <p:spPr>
          <a:xfrm>
            <a:off x="574675" y="1426210"/>
            <a:ext cx="4763770" cy="27895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 fontAlgn="auto">
              <a:spcAft>
                <a:spcPts val="400"/>
              </a:spcAft>
              <a:buFont typeface="+mj-lt"/>
              <a:buNone/>
            </a:pPr>
            <a:r>
              <a:rPr lang="zh-CN" altLang="en-US" b="1">
                <a:solidFill>
                  <a:srgbClr val="0689FE"/>
                </a:solidFill>
              </a:rPr>
              <a:t>挖掘用户痛点</a:t>
            </a:r>
            <a:endParaRPr lang="zh-CN" altLang="en-US"/>
          </a:p>
          <a:p>
            <a:pPr marL="28575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b="1"/>
              <a:t>信息过载</a:t>
            </a:r>
            <a:r>
              <a:rPr lang="zh-CN" altLang="en-US"/>
              <a:t>：研究人员难以从海量数据中筛选出有价值的政策信号。</a:t>
            </a:r>
            <a:endParaRPr lang="zh-CN" altLang="en-US"/>
          </a:p>
          <a:p>
            <a:pPr marL="28575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b="1"/>
              <a:t>语言与文化壁垒</a:t>
            </a:r>
            <a:r>
              <a:rPr lang="zh-CN" altLang="en-US"/>
              <a:t>：</a:t>
            </a:r>
            <a:r>
              <a:rPr lang="en-US" altLang="zh-CN"/>
              <a:t> </a:t>
            </a:r>
            <a:r>
              <a:rPr lang="zh-CN" altLang="en-US"/>
              <a:t>原始文献往往被锁在非通用语种中，且难以解读背后的政治立场。</a:t>
            </a:r>
            <a:endParaRPr lang="zh-CN" altLang="en-US"/>
          </a:p>
          <a:p>
            <a:pPr marL="28575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b="1"/>
              <a:t>工作流割裂与产出难</a:t>
            </a:r>
            <a:r>
              <a:rPr lang="zh-CN" altLang="en-US"/>
              <a:t>：工具分散导致效率低下，学生缺乏实战经验，存在</a:t>
            </a:r>
            <a:r>
              <a:rPr lang="en-US" altLang="zh-CN"/>
              <a:t>“</a:t>
            </a:r>
            <a:r>
              <a:rPr lang="zh-CN" altLang="en-US"/>
              <a:t>起步难</a:t>
            </a:r>
            <a:r>
              <a:rPr lang="en-US" altLang="zh-CN"/>
              <a:t>”</a:t>
            </a:r>
            <a:r>
              <a:rPr lang="zh-CN" altLang="en-US"/>
              <a:t>的问题。</a:t>
            </a:r>
            <a:endParaRPr lang="zh-CN" altLang="en-US"/>
          </a:p>
          <a:p>
            <a:pPr marL="28575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zh-CN" altLang="en-US"/>
          </a:p>
        </p:txBody>
      </p:sp>
      <p:sp>
        <p:nvSpPr>
          <p:cNvPr id="21" name="虚尾箭头 20"/>
          <p:cNvSpPr/>
          <p:nvPr/>
        </p:nvSpPr>
        <p:spPr>
          <a:xfrm>
            <a:off x="5460365" y="2245995"/>
            <a:ext cx="808355" cy="935355"/>
          </a:xfrm>
          <a:prstGeom prst="stripedRightArrow">
            <a:avLst/>
          </a:prstGeom>
          <a:gradFill>
            <a:gsLst>
              <a:gs pos="0">
                <a:srgbClr val="064BFE"/>
              </a:gs>
              <a:gs pos="78000">
                <a:srgbClr val="06C7FE"/>
              </a:gs>
            </a:gsLst>
            <a:lin ang="1296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1741170" y="6247765"/>
            <a:ext cx="2626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tx1"/>
                </a:solidFill>
              </a:rPr>
              <a:t>内容截图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文本框 23"/>
          <p:cNvSpPr txBox="1"/>
          <p:nvPr>
            <p:custDataLst>
              <p:tags r:id="rId3"/>
            </p:custDataLst>
          </p:nvPr>
        </p:nvSpPr>
        <p:spPr>
          <a:xfrm>
            <a:off x="6383020" y="1457960"/>
            <a:ext cx="5078730" cy="3825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spcAft>
                <a:spcPts val="800"/>
              </a:spcAft>
              <a:buFont typeface="+mj-lt"/>
              <a:buNone/>
            </a:pPr>
            <a:r>
              <a:rPr lang="zh-CN" altLang="en-US" b="1">
                <a:solidFill>
                  <a:srgbClr val="0689FE"/>
                </a:solidFill>
              </a:rPr>
              <a:t>模块化重构</a:t>
            </a:r>
            <a:endParaRPr lang="zh-CN" altLang="en-US"/>
          </a:p>
          <a:p>
            <a:pPr marL="285750" indent="-285750" algn="l" fontAlgn="auto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zh-CN" altLang="en-US" b="1"/>
              <a:t>信息过载</a:t>
            </a:r>
            <a:r>
              <a:rPr lang="en-US" altLang="zh-CN" b="1"/>
              <a:t>→ Module 01: DISCOVER</a:t>
            </a:r>
            <a:br>
              <a:rPr lang="en-US" altLang="zh-CN"/>
            </a:br>
            <a:r>
              <a:rPr lang="zh-CN" altLang="en-US"/>
              <a:t>（变</a:t>
            </a:r>
            <a:r>
              <a:rPr lang="en-US" altLang="zh-CN"/>
              <a:t>“</a:t>
            </a:r>
            <a:r>
              <a:rPr lang="zh-CN" altLang="en-US"/>
              <a:t>被动搜索</a:t>
            </a:r>
            <a:r>
              <a:rPr lang="en-US" altLang="zh-CN"/>
              <a:t>”</a:t>
            </a:r>
            <a:r>
              <a:rPr lang="zh-CN" altLang="en-US"/>
              <a:t>为</a:t>
            </a:r>
            <a:r>
              <a:rPr lang="en-US" altLang="zh-CN"/>
              <a:t>“</a:t>
            </a:r>
            <a:r>
              <a:rPr lang="zh-CN" altLang="en-US"/>
              <a:t>主动监测与精准过滤</a:t>
            </a:r>
            <a:r>
              <a:rPr lang="en-US" altLang="zh-CN"/>
              <a:t>”</a:t>
            </a:r>
            <a:r>
              <a:rPr lang="zh-CN" altLang="en-US"/>
              <a:t>）</a:t>
            </a:r>
            <a:endParaRPr lang="en-US" altLang="zh-CN"/>
          </a:p>
          <a:p>
            <a:pPr marL="285750" indent="-285750" algn="l" fontAlgn="auto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zh-CN" altLang="en-US" b="1"/>
              <a:t>语言壁垒</a:t>
            </a:r>
            <a:r>
              <a:rPr lang="en-US" altLang="zh-CN" b="1">
                <a:sym typeface="+mn-ea"/>
              </a:rPr>
              <a:t>→ </a:t>
            </a:r>
            <a:r>
              <a:rPr lang="en-US" altLang="zh-CN" b="1"/>
              <a:t>Module 02: UNDERSTAND</a:t>
            </a:r>
            <a:br>
              <a:rPr lang="en-US" altLang="zh-CN"/>
            </a:br>
            <a:r>
              <a:rPr lang="zh-CN" altLang="en-US"/>
              <a:t>（打破语言障碍，深度理解文本背后的政治隐喻）</a:t>
            </a:r>
            <a:endParaRPr lang="en-US" altLang="zh-CN"/>
          </a:p>
          <a:p>
            <a:pPr marL="285750" indent="-285750" algn="l" fontAlgn="auto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ym typeface="+mn-ea"/>
              </a:rPr>
              <a:t>工作流割裂</a:t>
            </a:r>
            <a:r>
              <a:rPr lang="en-US" altLang="zh-CN" b="1">
                <a:sym typeface="+mn-ea"/>
              </a:rPr>
              <a:t>→ </a:t>
            </a:r>
            <a:r>
              <a:rPr lang="en-US" altLang="zh-CN" b="1"/>
              <a:t>Module 03 &amp; 04: ORGANIZE &amp; CO-CREATE</a:t>
            </a:r>
            <a:br>
              <a:rPr lang="en-US" altLang="zh-CN"/>
            </a:br>
            <a:r>
              <a:rPr lang="zh-CN" altLang="en-US"/>
              <a:t>（实现从碎片化笔记到机构知识资产的转化，加速学术产出）</a:t>
            </a:r>
            <a:endParaRPr lang="en-US" altLang="zh-CN"/>
          </a:p>
          <a:p>
            <a:pPr marL="285750" indent="-285750" algn="l" fontAlgn="auto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ym typeface="+mn-ea"/>
              </a:rPr>
              <a:t>教学脱节</a:t>
            </a:r>
            <a:r>
              <a:rPr lang="en-US" altLang="zh-CN" b="1">
                <a:sym typeface="+mn-ea"/>
              </a:rPr>
              <a:t>→ </a:t>
            </a:r>
            <a:r>
              <a:rPr lang="en-US" altLang="zh-CN" b="1"/>
              <a:t>Module 05: EMPOWER</a:t>
            </a:r>
            <a:br>
              <a:rPr lang="en-US" altLang="zh-CN"/>
            </a:br>
            <a:r>
              <a:rPr lang="zh-CN" altLang="en-US"/>
              <a:t>（缩减理论与实践的鸿沟，提供虚拟导师服务）</a:t>
            </a:r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6740525" y="5757545"/>
            <a:ext cx="44049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chemeClr val="tx1"/>
                </a:solidFill>
              </a:rPr>
              <a:t>先问</a:t>
            </a:r>
            <a:r>
              <a:rPr lang="en-US" altLang="zh-CN" b="1">
                <a:solidFill>
                  <a:schemeClr val="tx1"/>
                </a:solidFill>
              </a:rPr>
              <a:t>‘</a:t>
            </a:r>
            <a:r>
              <a:rPr lang="zh-CN" altLang="en-US" b="1">
                <a:solidFill>
                  <a:schemeClr val="tx1"/>
                </a:solidFill>
              </a:rPr>
              <a:t>用户</a:t>
            </a:r>
            <a:r>
              <a:rPr lang="zh-CN" altLang="en-US" sz="2400" b="1">
                <a:solidFill>
                  <a:schemeClr val="tx1"/>
                </a:solidFill>
              </a:rPr>
              <a:t>痛什么</a:t>
            </a:r>
            <a:r>
              <a:rPr lang="en-US" altLang="zh-CN" b="1">
                <a:solidFill>
                  <a:schemeClr val="tx1"/>
                </a:solidFill>
              </a:rPr>
              <a:t>’</a:t>
            </a:r>
            <a:r>
              <a:rPr lang="zh-CN" altLang="en-US" b="1">
                <a:solidFill>
                  <a:schemeClr val="tx1"/>
                </a:solidFill>
              </a:rPr>
              <a:t>，再答</a:t>
            </a:r>
            <a:r>
              <a:rPr lang="en-US" altLang="zh-CN" b="1">
                <a:solidFill>
                  <a:schemeClr val="tx1"/>
                </a:solidFill>
              </a:rPr>
              <a:t>‘</a:t>
            </a:r>
            <a:r>
              <a:rPr lang="zh-CN" altLang="en-US" b="1">
                <a:solidFill>
                  <a:schemeClr val="tx1"/>
                </a:solidFill>
              </a:rPr>
              <a:t>平台</a:t>
            </a:r>
            <a:r>
              <a:rPr lang="zh-CN" altLang="en-US" sz="2400" b="1">
                <a:solidFill>
                  <a:schemeClr val="tx1"/>
                </a:solidFill>
              </a:rPr>
              <a:t>有什么</a:t>
            </a:r>
            <a:r>
              <a:rPr lang="en-US" altLang="zh-CN" b="1">
                <a:solidFill>
                  <a:schemeClr val="tx1"/>
                </a:solidFill>
              </a:rPr>
              <a:t>’</a:t>
            </a:r>
            <a:r>
              <a:rPr lang="zh-CN" altLang="en-US" b="1">
                <a:solidFill>
                  <a:schemeClr val="tx1"/>
                </a:solidFill>
              </a:rPr>
              <a:t>。</a:t>
            </a:r>
            <a:endParaRPr lang="zh-CN" altLang="en-US" b="1">
              <a:solidFill>
                <a:schemeClr val="tx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695" y="4062730"/>
            <a:ext cx="4189095" cy="2063115"/>
          </a:xfrm>
          <a:prstGeom prst="rect">
            <a:avLst/>
          </a:prstGeom>
        </p:spPr>
      </p:pic>
      <p:sp>
        <p:nvSpPr>
          <p:cNvPr id="17" name="圆角矩形 16"/>
          <p:cNvSpPr/>
          <p:nvPr/>
        </p:nvSpPr>
        <p:spPr>
          <a:xfrm>
            <a:off x="725170" y="3936365"/>
            <a:ext cx="4674870" cy="232791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74675" y="205105"/>
            <a:ext cx="2626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制作流程与框架</a:t>
            </a:r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11450" y="205105"/>
            <a:ext cx="2626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tx1"/>
                </a:solidFill>
              </a:rPr>
              <a:t>翻译策略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006340" y="205105"/>
            <a:ext cx="2626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排版与视觉设计</a:t>
            </a:r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3543300" y="554355"/>
            <a:ext cx="972000" cy="54000"/>
          </a:xfrm>
          <a:prstGeom prst="roundRect">
            <a:avLst/>
          </a:prstGeom>
          <a:solidFill>
            <a:srgbClr val="0689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482600" y="796290"/>
            <a:ext cx="38855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800" b="1">
                <a:solidFill>
                  <a:srgbClr val="0689FE"/>
                </a:solidFill>
              </a:rPr>
              <a:t>内容重构亮点</a:t>
            </a:r>
            <a:endParaRPr lang="zh-CN" altLang="en-US" sz="2800" b="1">
              <a:solidFill>
                <a:srgbClr val="0689FE"/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494665" y="2886075"/>
            <a:ext cx="5263515" cy="13017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 fontAlgn="auto">
              <a:spcAft>
                <a:spcPts val="400"/>
              </a:spcAft>
              <a:buFont typeface="+mj-lt"/>
              <a:buNone/>
            </a:pPr>
            <a:r>
              <a:rPr lang="zh-CN" altLang="en-US" b="1">
                <a:solidFill>
                  <a:srgbClr val="0689FE"/>
                </a:solidFill>
              </a:rPr>
              <a:t>场景化表达</a:t>
            </a:r>
            <a:endParaRPr lang="zh-CN" altLang="en-US">
              <a:solidFill>
                <a:srgbClr val="0689FE"/>
              </a:solidFill>
            </a:endParaRPr>
          </a:p>
          <a:p>
            <a:pPr marL="28575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/>
              <a:t>所有核心能力都嵌入具体任务场景。</a:t>
            </a:r>
            <a:endParaRPr lang="zh-CN" altLang="en-US"/>
          </a:p>
          <a:p>
            <a:pPr marL="28575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/>
              <a:t>表达模式统一为：你在做什么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平台如何介入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解决什么问题</a:t>
            </a:r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9093835" y="4342765"/>
            <a:ext cx="4959985" cy="4507230"/>
          </a:xfrm>
          <a:prstGeom prst="ellipse">
            <a:avLst/>
          </a:prstGeom>
          <a:gradFill>
            <a:gsLst>
              <a:gs pos="0">
                <a:srgbClr val="064BFE"/>
              </a:gs>
              <a:gs pos="78000">
                <a:srgbClr val="06C7FE"/>
              </a:gs>
            </a:gsLst>
            <a:lin ang="2880000" scaled="0"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6061075" y="1371600"/>
            <a:ext cx="5667375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 fontAlgn="auto">
              <a:spcAft>
                <a:spcPts val="400"/>
              </a:spcAft>
              <a:buFont typeface="+mj-lt"/>
              <a:buNone/>
            </a:pPr>
            <a:r>
              <a:rPr lang="zh-CN" altLang="en-US" b="1">
                <a:solidFill>
                  <a:srgbClr val="0689FE"/>
                </a:solidFill>
              </a:rPr>
              <a:t>叙事视角统一</a:t>
            </a:r>
            <a:endParaRPr lang="en-US" altLang="zh-CN">
              <a:solidFill>
                <a:srgbClr val="0689FE"/>
              </a:solidFill>
            </a:endParaRPr>
          </a:p>
          <a:p>
            <a:pPr marL="28575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/>
              <a:t>全文统一使用</a:t>
            </a:r>
            <a:r>
              <a:rPr lang="en-US" altLang="zh-CN"/>
              <a:t> you / your </a:t>
            </a:r>
            <a:r>
              <a:rPr lang="zh-CN" altLang="en-US"/>
              <a:t>作为叙事主语，而非</a:t>
            </a:r>
            <a:r>
              <a:rPr lang="en-US" altLang="zh-CN"/>
              <a:t> we / the platform</a:t>
            </a:r>
            <a:r>
              <a:rPr lang="zh-CN" altLang="en-US"/>
              <a:t>。</a:t>
            </a:r>
            <a:endParaRPr lang="en-US" altLang="zh-CN"/>
          </a:p>
          <a:p>
            <a:pPr marL="28575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/>
              <a:t>将</a:t>
            </a:r>
            <a:r>
              <a:rPr lang="en-US" altLang="zh-CN"/>
              <a:t>“</a:t>
            </a:r>
            <a:r>
              <a:rPr lang="zh-CN" altLang="en-US"/>
              <a:t>介绍系统有什么</a:t>
            </a:r>
            <a:r>
              <a:rPr lang="en-US" altLang="zh-CN"/>
              <a:t>”</a:t>
            </a:r>
            <a:r>
              <a:rPr lang="zh-CN" altLang="en-US"/>
              <a:t>改写为</a:t>
            </a:r>
            <a:r>
              <a:rPr lang="en-US" altLang="zh-CN"/>
              <a:t>“</a:t>
            </a:r>
            <a:r>
              <a:rPr lang="zh-CN" altLang="en-US"/>
              <a:t>你可以用它做什么</a:t>
            </a:r>
            <a:r>
              <a:rPr lang="en-US" altLang="zh-CN"/>
              <a:t>”</a:t>
            </a:r>
            <a:r>
              <a:rPr lang="zh-CN" altLang="en-US"/>
              <a:t>。</a:t>
            </a:r>
            <a:endParaRPr lang="en-US" altLang="zh-CN"/>
          </a:p>
          <a:p>
            <a:pPr marL="28575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/>
              <a:t>把技术说明书，重构为任务导向的用户操作叙事。</a:t>
            </a:r>
            <a:endParaRPr lang="en-US" altLang="zh-CN"/>
          </a:p>
        </p:txBody>
      </p:sp>
      <p:sp>
        <p:nvSpPr>
          <p:cNvPr id="18" name="文本框 17"/>
          <p:cNvSpPr txBox="1"/>
          <p:nvPr>
            <p:custDataLst>
              <p:tags r:id="rId4"/>
            </p:custDataLst>
          </p:nvPr>
        </p:nvSpPr>
        <p:spPr>
          <a:xfrm>
            <a:off x="6096000" y="3432175"/>
            <a:ext cx="5263515" cy="20097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 fontAlgn="auto">
              <a:spcAft>
                <a:spcPts val="400"/>
              </a:spcAft>
              <a:buFont typeface="+mj-lt"/>
              <a:buNone/>
            </a:pPr>
            <a:r>
              <a:rPr lang="zh-CN" altLang="en-US" b="1">
                <a:solidFill>
                  <a:srgbClr val="0689FE"/>
                </a:solidFill>
              </a:rPr>
              <a:t>信息层级设计</a:t>
            </a:r>
            <a:endParaRPr lang="zh-CN" altLang="en-US">
              <a:solidFill>
                <a:srgbClr val="0689FE"/>
              </a:solidFill>
            </a:endParaRPr>
          </a:p>
          <a:p>
            <a:pPr marL="28575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/>
              <a:t>全文统一为三层传播结构：</a:t>
            </a:r>
            <a:endParaRPr lang="zh-CN" altLang="en-US"/>
          </a:p>
          <a:p>
            <a:pPr marL="742950" lvl="1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/>
              <a:t>标题：这一模块解决什么问题？</a:t>
            </a:r>
            <a:endParaRPr lang="zh-CN" altLang="en-US"/>
          </a:p>
          <a:p>
            <a:pPr marL="742950" lvl="1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/>
              <a:t>副标题：它带来什么价值？</a:t>
            </a:r>
            <a:endParaRPr lang="zh-CN" altLang="en-US"/>
          </a:p>
          <a:p>
            <a:pPr marL="742950" lvl="1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/>
              <a:t>正文：它是如何实现的？</a:t>
            </a:r>
            <a:endParaRPr lang="zh-CN" altLang="en-US"/>
          </a:p>
          <a:p>
            <a:pPr marL="285750" lvl="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/>
              <a:t>适配</a:t>
            </a:r>
            <a:r>
              <a:rPr lang="en-US" altLang="zh-CN"/>
              <a:t>“</a:t>
            </a:r>
            <a:r>
              <a:rPr lang="zh-CN" altLang="en-US"/>
              <a:t>扫描式阅读</a:t>
            </a:r>
            <a:r>
              <a:rPr lang="en-US" altLang="zh-CN"/>
              <a:t>”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610" y="4342765"/>
            <a:ext cx="5625465" cy="2414905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574675" y="1454150"/>
            <a:ext cx="5263515" cy="13017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 fontAlgn="auto">
              <a:spcAft>
                <a:spcPts val="400"/>
              </a:spcAft>
              <a:buFont typeface="+mj-lt"/>
              <a:buNone/>
            </a:pPr>
            <a:r>
              <a:rPr lang="zh-CN" altLang="en-US" b="1">
                <a:solidFill>
                  <a:srgbClr val="0689FE"/>
                </a:solidFill>
              </a:rPr>
              <a:t>语体转换：采用</a:t>
            </a:r>
            <a:r>
              <a:rPr lang="en-US" altLang="zh-CN" b="1">
                <a:solidFill>
                  <a:srgbClr val="0689FE"/>
                </a:solidFill>
              </a:rPr>
              <a:t>“</a:t>
            </a:r>
            <a:r>
              <a:rPr lang="zh-CN" altLang="en-US" b="1">
                <a:solidFill>
                  <a:srgbClr val="0689FE"/>
                </a:solidFill>
              </a:rPr>
              <a:t>科研用户语言</a:t>
            </a:r>
            <a:r>
              <a:rPr lang="en-US" altLang="zh-CN" b="1">
                <a:solidFill>
                  <a:srgbClr val="0689FE"/>
                </a:solidFill>
              </a:rPr>
              <a:t>”</a:t>
            </a:r>
            <a:endParaRPr lang="zh-CN" altLang="en-US">
              <a:solidFill>
                <a:srgbClr val="0689FE"/>
              </a:solidFill>
            </a:endParaRPr>
          </a:p>
          <a:p>
            <a:pPr marL="28575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/>
              <a:t>刻意避免：</a:t>
            </a:r>
            <a:r>
              <a:rPr lang="en-US" altLang="zh-CN"/>
              <a:t>“</a:t>
            </a:r>
            <a:r>
              <a:rPr lang="zh-CN" altLang="en-US"/>
              <a:t>构建体系</a:t>
            </a:r>
            <a:r>
              <a:rPr lang="en-US" altLang="zh-CN"/>
              <a:t> / </a:t>
            </a:r>
            <a:r>
              <a:rPr lang="zh-CN" altLang="en-US"/>
              <a:t>打造平台</a:t>
            </a:r>
            <a:r>
              <a:rPr lang="en-US" altLang="zh-CN"/>
              <a:t> / </a:t>
            </a:r>
            <a:r>
              <a:rPr lang="zh-CN" altLang="en-US"/>
              <a:t>赋能能力</a:t>
            </a:r>
            <a:r>
              <a:rPr lang="en-US" altLang="zh-CN"/>
              <a:t>”</a:t>
            </a:r>
            <a:r>
              <a:rPr lang="zh-CN" altLang="en-US"/>
              <a:t>式表达</a:t>
            </a:r>
            <a:endParaRPr lang="zh-CN" altLang="en-US"/>
          </a:p>
          <a:p>
            <a:pPr marL="28575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/>
              <a:t>表达顺序统一调整为：先价值，后机制。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-365760" y="4958080"/>
            <a:ext cx="960755" cy="112395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pPr algn="ctr"/>
            <a:r>
              <a:rPr lang="zh-CN" altLang="en-US">
                <a:solidFill>
                  <a:schemeClr val="tx1"/>
                </a:solidFill>
              </a:rPr>
              <a:t>截图示例</a:t>
            </a: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74675" y="205105"/>
            <a:ext cx="2626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制作流程与框架</a:t>
            </a:r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11450" y="205105"/>
            <a:ext cx="2626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翻译策略</a:t>
            </a:r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006340" y="205105"/>
            <a:ext cx="2626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tx1"/>
                </a:solidFill>
              </a:rPr>
              <a:t>排版与视觉设计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524500" y="554355"/>
            <a:ext cx="1584000" cy="54000"/>
          </a:xfrm>
          <a:prstGeom prst="roundRect">
            <a:avLst/>
          </a:prstGeom>
          <a:solidFill>
            <a:srgbClr val="0689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482600" y="796290"/>
            <a:ext cx="38855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800" b="1">
                <a:solidFill>
                  <a:srgbClr val="0689FE"/>
                </a:solidFill>
              </a:rPr>
              <a:t>排版原则：</a:t>
            </a:r>
            <a:r>
              <a:rPr lang="en-US" altLang="zh-CN" sz="2800" b="1">
                <a:solidFill>
                  <a:srgbClr val="0689FE"/>
                </a:solidFill>
              </a:rPr>
              <a:t>CRAP</a:t>
            </a:r>
            <a:r>
              <a:rPr lang="zh-CN" altLang="en-US" sz="2800" b="1">
                <a:solidFill>
                  <a:srgbClr val="0689FE"/>
                </a:solidFill>
              </a:rPr>
              <a:t>原则</a:t>
            </a:r>
            <a:endParaRPr lang="zh-CN" altLang="en-US" sz="2800" b="1">
              <a:solidFill>
                <a:srgbClr val="0689FE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513715" y="1454150"/>
            <a:ext cx="5263515" cy="27895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 fontAlgn="auto">
              <a:spcAft>
                <a:spcPts val="400"/>
              </a:spcAft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0689FE"/>
                </a:solidFill>
              </a:rPr>
              <a:t>对比（</a:t>
            </a:r>
            <a:r>
              <a:rPr lang="en-US" altLang="zh-CN" b="1">
                <a:solidFill>
                  <a:srgbClr val="0689FE"/>
                </a:solidFill>
              </a:rPr>
              <a:t>Contrast</a:t>
            </a:r>
            <a:r>
              <a:rPr lang="zh-CN" altLang="en-US" b="1">
                <a:solidFill>
                  <a:srgbClr val="0689FE"/>
                </a:solidFill>
              </a:rPr>
              <a:t>）</a:t>
            </a:r>
            <a:endParaRPr lang="zh-CN" altLang="en-US" b="1">
              <a:solidFill>
                <a:srgbClr val="0689FE"/>
              </a:solidFill>
            </a:endParaRPr>
          </a:p>
          <a:p>
            <a:pPr marL="28575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b="1"/>
              <a:t>主标题</a:t>
            </a:r>
            <a:r>
              <a:rPr lang="zh-CN" altLang="en-US"/>
              <a:t>：使用衬线体</a:t>
            </a:r>
            <a:r>
              <a:rPr lang="en-US" altLang="zh-CN"/>
              <a:t> + </a:t>
            </a:r>
            <a:r>
              <a:rPr lang="zh-CN" altLang="en-US"/>
              <a:t>加粗</a:t>
            </a:r>
            <a:r>
              <a:rPr lang="en-US" altLang="zh-CN"/>
              <a:t> + </a:t>
            </a:r>
            <a:r>
              <a:rPr lang="zh-CN" altLang="en-US"/>
              <a:t>放大字号</a:t>
            </a:r>
            <a:r>
              <a:rPr lang="en-US" altLang="zh-CN"/>
              <a:t> + </a:t>
            </a:r>
            <a:r>
              <a:rPr lang="zh-CN" altLang="en-US"/>
              <a:t>主题色，作为全页视觉锚点。</a:t>
            </a:r>
            <a:endParaRPr lang="zh-CN" altLang="en-US"/>
          </a:p>
          <a:p>
            <a:pPr marL="28575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b="1"/>
              <a:t>二级标题</a:t>
            </a:r>
            <a:r>
              <a:rPr lang="zh-CN" altLang="en-US"/>
              <a:t>：延续主标题字体系统，仅缩小字号，并在前方加入主题色图形标记强化识别。</a:t>
            </a:r>
            <a:endParaRPr lang="en-US" altLang="zh-CN"/>
          </a:p>
          <a:p>
            <a:pPr marL="28575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b="1"/>
              <a:t>小标题</a:t>
            </a:r>
            <a:r>
              <a:rPr lang="zh-CN" altLang="en-US"/>
              <a:t>：使用正文字号加粗，在不打断阅读节奏的前提下标记信息层级。</a:t>
            </a:r>
            <a:endParaRPr lang="zh-CN" altLang="en-US"/>
          </a:p>
          <a:p>
            <a:pPr marL="28575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b="1"/>
              <a:t>正文</a:t>
            </a:r>
            <a:r>
              <a:rPr lang="zh-CN" altLang="en-US"/>
              <a:t>：统一使用稳重的非衬线体</a:t>
            </a:r>
            <a:r>
              <a:rPr lang="en-US" altLang="zh-CN"/>
              <a:t> + </a:t>
            </a:r>
            <a:r>
              <a:rPr lang="zh-CN" altLang="en-US"/>
              <a:t>固定字号，仅对关键信息进行加粗强调，避免信息噪音。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rcRect l="404" r="404"/>
          <a:stretch>
            <a:fillRect/>
          </a:stretch>
        </p:blipFill>
        <p:spPr>
          <a:xfrm>
            <a:off x="6961505" y="1030605"/>
            <a:ext cx="3970655" cy="565785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0" name="椭圆 19"/>
          <p:cNvSpPr/>
          <p:nvPr/>
        </p:nvSpPr>
        <p:spPr>
          <a:xfrm>
            <a:off x="9074150" y="-2891790"/>
            <a:ext cx="4959985" cy="4507230"/>
          </a:xfrm>
          <a:prstGeom prst="ellipse">
            <a:avLst/>
          </a:prstGeom>
          <a:gradFill>
            <a:gsLst>
              <a:gs pos="0">
                <a:srgbClr val="064BFE"/>
              </a:gs>
              <a:gs pos="78000">
                <a:srgbClr val="06C7FE"/>
              </a:gs>
            </a:gsLst>
            <a:lin ang="2880000" scaled="0"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左大括号 11"/>
          <p:cNvSpPr/>
          <p:nvPr/>
        </p:nvSpPr>
        <p:spPr>
          <a:xfrm rot="10800000">
            <a:off x="10609580" y="1393190"/>
            <a:ext cx="363220" cy="256540"/>
          </a:xfrm>
          <a:prstGeom prst="leftBrace">
            <a:avLst>
              <a:gd name="adj1" fmla="val 8333"/>
              <a:gd name="adj2" fmla="val 50551"/>
            </a:avLst>
          </a:prstGeom>
          <a:ln>
            <a:solidFill>
              <a:srgbClr val="0689F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11071225" y="1278255"/>
            <a:ext cx="113157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 fontAlgn="auto">
              <a:spcAft>
                <a:spcPts val="400"/>
              </a:spcAft>
              <a:buFont typeface="+mj-lt"/>
              <a:buNone/>
            </a:pPr>
            <a:r>
              <a:rPr lang="zh-CN" altLang="en-US" sz="1400">
                <a:solidFill>
                  <a:srgbClr val="C00000"/>
                </a:solidFill>
              </a:rPr>
              <a:t>二级标题样式和主标题相同</a:t>
            </a:r>
            <a:endParaRPr lang="zh-CN" altLang="en-US" sz="1400">
              <a:solidFill>
                <a:srgbClr val="C00000"/>
              </a:solidFill>
            </a:endParaRPr>
          </a:p>
        </p:txBody>
      </p:sp>
      <p:sp>
        <p:nvSpPr>
          <p:cNvPr id="15" name="文本框 14"/>
          <p:cNvSpPr txBox="1"/>
          <p:nvPr>
            <p:custDataLst>
              <p:tags r:id="rId5"/>
            </p:custDataLst>
          </p:nvPr>
        </p:nvSpPr>
        <p:spPr>
          <a:xfrm>
            <a:off x="492125" y="4376420"/>
            <a:ext cx="5263515" cy="21837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 fontAlgn="auto">
              <a:spcAft>
                <a:spcPts val="400"/>
              </a:spcAft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0689FE"/>
                </a:solidFill>
              </a:rPr>
              <a:t>重复（</a:t>
            </a:r>
            <a:r>
              <a:rPr lang="en-US" altLang="zh-CN" b="1">
                <a:solidFill>
                  <a:srgbClr val="0689FE"/>
                </a:solidFill>
              </a:rPr>
              <a:t>Repetition</a:t>
            </a:r>
            <a:r>
              <a:rPr lang="zh-CN" altLang="en-US" b="1">
                <a:solidFill>
                  <a:srgbClr val="0689FE"/>
                </a:solidFill>
              </a:rPr>
              <a:t>）</a:t>
            </a:r>
            <a:endParaRPr lang="zh-CN" altLang="en-US" b="1">
              <a:solidFill>
                <a:srgbClr val="0689FE"/>
              </a:solidFill>
            </a:endParaRPr>
          </a:p>
          <a:p>
            <a:pPr marL="28575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b="1"/>
              <a:t>全文统一</a:t>
            </a:r>
            <a:r>
              <a:rPr lang="zh-CN" altLang="en-US"/>
              <a:t>：标题结构、字体搭配、强调方式与配图标题样式。</a:t>
            </a:r>
            <a:endParaRPr lang="en-US" altLang="zh-CN"/>
          </a:p>
          <a:p>
            <a:pPr marL="28575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/>
              <a:t>所有模块采用相同的</a:t>
            </a:r>
            <a:r>
              <a:rPr lang="zh-CN" altLang="en-US" b="1"/>
              <a:t>信息层级结构</a:t>
            </a:r>
            <a:r>
              <a:rPr lang="zh-CN" altLang="en-US"/>
              <a:t>（主标题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副标题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说明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配图），降低读者的学习成本。</a:t>
            </a:r>
            <a:endParaRPr lang="zh-CN" altLang="en-US"/>
          </a:p>
          <a:p>
            <a:pPr marL="28575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/>
              <a:t>配图中的</a:t>
            </a:r>
            <a:r>
              <a:rPr lang="zh-CN" altLang="en-US" b="1"/>
              <a:t>文字样式</a:t>
            </a:r>
            <a:r>
              <a:rPr lang="zh-CN" altLang="en-US"/>
              <a:t>与正文系统保持一致，避免</a:t>
            </a:r>
            <a:r>
              <a:rPr lang="en-US" altLang="zh-CN"/>
              <a:t>“PPT </a:t>
            </a:r>
            <a:r>
              <a:rPr lang="zh-CN" altLang="en-US"/>
              <a:t>两套字体系统</a:t>
            </a:r>
            <a:r>
              <a:rPr lang="en-US" altLang="zh-CN"/>
              <a:t>”</a:t>
            </a:r>
            <a:r>
              <a:rPr lang="zh-CN" altLang="en-US"/>
              <a:t>的割裂感。</a:t>
            </a:r>
            <a:endParaRPr lang="zh-CN" altLang="en-US"/>
          </a:p>
        </p:txBody>
      </p:sp>
      <p:sp>
        <p:nvSpPr>
          <p:cNvPr id="17" name="左大括号 16"/>
          <p:cNvSpPr/>
          <p:nvPr/>
        </p:nvSpPr>
        <p:spPr>
          <a:xfrm>
            <a:off x="6785610" y="1847850"/>
            <a:ext cx="363220" cy="862965"/>
          </a:xfrm>
          <a:prstGeom prst="leftBrace">
            <a:avLst>
              <a:gd name="adj1" fmla="val 8333"/>
              <a:gd name="adj2" fmla="val 50551"/>
            </a:avLst>
          </a:prstGeom>
          <a:ln>
            <a:solidFill>
              <a:srgbClr val="0689F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6"/>
            </p:custDataLst>
          </p:nvPr>
        </p:nvSpPr>
        <p:spPr>
          <a:xfrm>
            <a:off x="5826760" y="2015490"/>
            <a:ext cx="9721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 fontAlgn="auto">
              <a:spcAft>
                <a:spcPts val="400"/>
              </a:spcAft>
              <a:buFont typeface="+mj-lt"/>
              <a:buNone/>
            </a:pPr>
            <a:r>
              <a:rPr lang="zh-CN" altLang="en-US" sz="1400">
                <a:solidFill>
                  <a:srgbClr val="C00000"/>
                </a:solidFill>
              </a:rPr>
              <a:t>小标题</a:t>
            </a:r>
            <a:r>
              <a:rPr lang="en-US" altLang="zh-CN" sz="1400">
                <a:solidFill>
                  <a:srgbClr val="C00000"/>
                </a:solidFill>
              </a:rPr>
              <a:t>=</a:t>
            </a:r>
            <a:r>
              <a:rPr lang="zh-CN" altLang="en-US" sz="1400">
                <a:solidFill>
                  <a:srgbClr val="C00000"/>
                </a:solidFill>
              </a:rPr>
              <a:t>正文加粗</a:t>
            </a:r>
            <a:endParaRPr lang="zh-CN" altLang="en-US" sz="1400">
              <a:solidFill>
                <a:srgbClr val="C00000"/>
              </a:solidFill>
            </a:endParaRPr>
          </a:p>
        </p:txBody>
      </p:sp>
      <p:sp>
        <p:nvSpPr>
          <p:cNvPr id="21" name="左大括号 20"/>
          <p:cNvSpPr/>
          <p:nvPr/>
        </p:nvSpPr>
        <p:spPr>
          <a:xfrm rot="10800000">
            <a:off x="10756265" y="2652395"/>
            <a:ext cx="216535" cy="1268095"/>
          </a:xfrm>
          <a:prstGeom prst="leftBrace">
            <a:avLst>
              <a:gd name="adj1" fmla="val 8333"/>
              <a:gd name="adj2" fmla="val 50551"/>
            </a:avLst>
          </a:prstGeom>
          <a:ln>
            <a:solidFill>
              <a:srgbClr val="0689F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7"/>
            </p:custDataLst>
          </p:nvPr>
        </p:nvSpPr>
        <p:spPr>
          <a:xfrm>
            <a:off x="10972800" y="2824480"/>
            <a:ext cx="113157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 fontAlgn="auto">
              <a:spcAft>
                <a:spcPts val="400"/>
              </a:spcAft>
              <a:buFont typeface="+mj-lt"/>
              <a:buNone/>
            </a:pPr>
            <a:r>
              <a:rPr lang="zh-CN" altLang="en-US" sz="1400">
                <a:solidFill>
                  <a:srgbClr val="C00000"/>
                </a:solidFill>
              </a:rPr>
              <a:t>配图文字字号缩小，样式和正文保持一致</a:t>
            </a:r>
            <a:endParaRPr lang="zh-CN" altLang="en-US" sz="1400">
              <a:solidFill>
                <a:srgbClr val="C00000"/>
              </a:solidFill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10112375" y="5981700"/>
            <a:ext cx="648970" cy="511175"/>
          </a:xfrm>
          <a:prstGeom prst="ellipse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7209790" y="3180080"/>
            <a:ext cx="542290" cy="479425"/>
          </a:xfrm>
          <a:prstGeom prst="ellipse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8336915" y="3313430"/>
            <a:ext cx="542290" cy="479425"/>
          </a:xfrm>
          <a:prstGeom prst="ellipse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10435590" y="5114290"/>
            <a:ext cx="542290" cy="479425"/>
          </a:xfrm>
          <a:prstGeom prst="ellipse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左大括号 26"/>
          <p:cNvSpPr/>
          <p:nvPr/>
        </p:nvSpPr>
        <p:spPr>
          <a:xfrm rot="10800000">
            <a:off x="10972800" y="5337175"/>
            <a:ext cx="363220" cy="1044575"/>
          </a:xfrm>
          <a:prstGeom prst="leftBrace">
            <a:avLst>
              <a:gd name="adj1" fmla="val 8333"/>
              <a:gd name="adj2" fmla="val 50551"/>
            </a:avLst>
          </a:prstGeom>
          <a:ln>
            <a:solidFill>
              <a:srgbClr val="0689F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28" name="文本框 27"/>
          <p:cNvSpPr txBox="1"/>
          <p:nvPr>
            <p:custDataLst>
              <p:tags r:id="rId8"/>
            </p:custDataLst>
          </p:nvPr>
        </p:nvSpPr>
        <p:spPr>
          <a:xfrm>
            <a:off x="11376660" y="5593715"/>
            <a:ext cx="5784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 fontAlgn="auto">
              <a:spcAft>
                <a:spcPts val="400"/>
              </a:spcAft>
              <a:buFont typeface="+mj-lt"/>
              <a:buNone/>
            </a:pPr>
            <a:r>
              <a:rPr lang="zh-CN" altLang="en-US" sz="1400">
                <a:solidFill>
                  <a:srgbClr val="C00000"/>
                </a:solidFill>
              </a:rPr>
              <a:t>色彩重复</a:t>
            </a:r>
            <a:endParaRPr lang="zh-CN" altLang="en-US" sz="140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74675" y="205105"/>
            <a:ext cx="2626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制作流程与框架</a:t>
            </a:r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11450" y="205105"/>
            <a:ext cx="2626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翻译策略</a:t>
            </a:r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006340" y="205105"/>
            <a:ext cx="2626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tx1"/>
                </a:solidFill>
              </a:rPr>
              <a:t>排版与视觉设计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524500" y="554355"/>
            <a:ext cx="1584000" cy="54000"/>
          </a:xfrm>
          <a:prstGeom prst="roundRect">
            <a:avLst/>
          </a:prstGeom>
          <a:solidFill>
            <a:srgbClr val="0689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482600" y="796290"/>
            <a:ext cx="38855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800" b="1">
                <a:solidFill>
                  <a:srgbClr val="0689FE"/>
                </a:solidFill>
              </a:rPr>
              <a:t>排版原则：</a:t>
            </a:r>
            <a:r>
              <a:rPr lang="en-US" altLang="zh-CN" sz="2800" b="1">
                <a:solidFill>
                  <a:srgbClr val="0689FE"/>
                </a:solidFill>
              </a:rPr>
              <a:t>CRAP</a:t>
            </a:r>
            <a:r>
              <a:rPr lang="zh-CN" altLang="en-US" sz="2800" b="1">
                <a:solidFill>
                  <a:srgbClr val="0689FE"/>
                </a:solidFill>
              </a:rPr>
              <a:t>原则</a:t>
            </a:r>
            <a:endParaRPr lang="zh-CN" altLang="en-US" sz="2800" b="1">
              <a:solidFill>
                <a:srgbClr val="0689FE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513715" y="1454150"/>
            <a:ext cx="5263515" cy="27895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 fontAlgn="auto">
              <a:spcAft>
                <a:spcPts val="400"/>
              </a:spcAft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0689FE"/>
                </a:solidFill>
              </a:rPr>
              <a:t>对齐（</a:t>
            </a:r>
            <a:r>
              <a:rPr lang="en-US" altLang="zh-CN" b="1">
                <a:solidFill>
                  <a:srgbClr val="0689FE"/>
                </a:solidFill>
              </a:rPr>
              <a:t>Alignment</a:t>
            </a:r>
            <a:r>
              <a:rPr lang="zh-CN" altLang="en-US" b="1">
                <a:solidFill>
                  <a:srgbClr val="0689FE"/>
                </a:solidFill>
              </a:rPr>
              <a:t>）</a:t>
            </a:r>
            <a:endParaRPr lang="zh-CN" altLang="en-US" b="1">
              <a:solidFill>
                <a:srgbClr val="0689FE"/>
              </a:solidFill>
            </a:endParaRPr>
          </a:p>
          <a:p>
            <a:pPr marL="28575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/>
              <a:t>所有正文内容</a:t>
            </a:r>
            <a:r>
              <a:rPr lang="zh-CN" altLang="en-US" b="1"/>
              <a:t>统一左对齐</a:t>
            </a:r>
            <a:r>
              <a:rPr lang="zh-CN" altLang="en-US"/>
              <a:t>，建立稳定的阅读基线。</a:t>
            </a:r>
            <a:endParaRPr lang="en-US" altLang="zh-CN"/>
          </a:p>
          <a:p>
            <a:pPr marL="28575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/>
              <a:t>内容宽度严格控制在</a:t>
            </a:r>
            <a:r>
              <a:rPr lang="zh-CN" altLang="en-US" b="1"/>
              <a:t>右侧隐形对齐线</a:t>
            </a:r>
            <a:r>
              <a:rPr lang="zh-CN" altLang="en-US"/>
              <a:t>之内，避免页面发散。</a:t>
            </a:r>
            <a:endParaRPr lang="en-US" altLang="zh-CN"/>
          </a:p>
          <a:p>
            <a:pPr marL="28575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/>
              <a:t>页眉、页脚、上下边距保持一致，所有页面共享同一网格系统。</a:t>
            </a:r>
            <a:endParaRPr lang="en-US" altLang="zh-CN"/>
          </a:p>
          <a:p>
            <a:pPr marL="28575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/>
              <a:t>文字块与图片块均按同一逻辑对齐，保证版面秩序感。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rcRect l="404" r="404"/>
          <a:stretch>
            <a:fillRect/>
          </a:stretch>
        </p:blipFill>
        <p:spPr>
          <a:xfrm>
            <a:off x="6961505" y="1030605"/>
            <a:ext cx="3970655" cy="565785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0" name="椭圆 19"/>
          <p:cNvSpPr/>
          <p:nvPr/>
        </p:nvSpPr>
        <p:spPr>
          <a:xfrm>
            <a:off x="9074150" y="-2891790"/>
            <a:ext cx="4959985" cy="4507230"/>
          </a:xfrm>
          <a:prstGeom prst="ellipse">
            <a:avLst/>
          </a:prstGeom>
          <a:gradFill>
            <a:gsLst>
              <a:gs pos="0">
                <a:srgbClr val="064BFE"/>
              </a:gs>
              <a:gs pos="78000">
                <a:srgbClr val="06C7FE"/>
              </a:gs>
            </a:gsLst>
            <a:lin ang="2880000" scaled="0"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4"/>
            </p:custDataLst>
          </p:nvPr>
        </p:nvSpPr>
        <p:spPr>
          <a:xfrm>
            <a:off x="492125" y="4376420"/>
            <a:ext cx="5263515" cy="21837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 fontAlgn="auto">
              <a:spcAft>
                <a:spcPts val="400"/>
              </a:spcAft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0689FE"/>
                </a:solidFill>
              </a:rPr>
              <a:t>亲密性（</a:t>
            </a:r>
            <a:r>
              <a:rPr lang="en-US" altLang="zh-CN" b="1">
                <a:solidFill>
                  <a:srgbClr val="0689FE"/>
                </a:solidFill>
              </a:rPr>
              <a:t>Proximity</a:t>
            </a:r>
            <a:r>
              <a:rPr lang="zh-CN" altLang="en-US" b="1">
                <a:solidFill>
                  <a:srgbClr val="0689FE"/>
                </a:solidFill>
              </a:rPr>
              <a:t>）</a:t>
            </a:r>
            <a:endParaRPr lang="zh-CN" altLang="en-US" b="1">
              <a:solidFill>
                <a:srgbClr val="0689FE"/>
              </a:solidFill>
            </a:endParaRPr>
          </a:p>
          <a:p>
            <a:pPr marL="28575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/>
              <a:t>同一</a:t>
            </a:r>
            <a:r>
              <a:rPr lang="zh-CN" altLang="en-US" b="1"/>
              <a:t>板块内部</a:t>
            </a:r>
            <a:r>
              <a:rPr lang="zh-CN" altLang="en-US"/>
              <a:t>：内容之间使用</a:t>
            </a:r>
            <a:r>
              <a:rPr lang="zh-CN" altLang="en-US" b="1"/>
              <a:t>统一间距</a:t>
            </a:r>
            <a:r>
              <a:rPr lang="zh-CN" altLang="en-US"/>
              <a:t>，形成清晰的信息组块。</a:t>
            </a:r>
            <a:endParaRPr lang="en-US" altLang="zh-CN"/>
          </a:p>
          <a:p>
            <a:pPr marL="28575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/>
              <a:t>不同</a:t>
            </a:r>
            <a:r>
              <a:rPr lang="zh-CN" altLang="en-US" b="1"/>
              <a:t>板块之间</a:t>
            </a:r>
            <a:r>
              <a:rPr lang="zh-CN" altLang="en-US"/>
              <a:t>：使用</a:t>
            </a:r>
            <a:r>
              <a:rPr lang="zh-CN" altLang="en-US" b="1"/>
              <a:t>双倍间距</a:t>
            </a:r>
            <a:r>
              <a:rPr lang="zh-CN" altLang="en-US"/>
              <a:t>，在视觉上明确区分信息层级。</a:t>
            </a:r>
            <a:endParaRPr lang="en-US" altLang="zh-CN"/>
          </a:p>
          <a:p>
            <a:pPr marL="28575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/>
              <a:t>所有配图均与其说明文字</a:t>
            </a:r>
            <a:r>
              <a:rPr lang="zh-CN" altLang="en-US" b="1"/>
              <a:t>紧密排布</a:t>
            </a:r>
            <a:r>
              <a:rPr lang="zh-CN" altLang="en-US"/>
              <a:t>，避免读者在页面中</a:t>
            </a:r>
            <a:r>
              <a:rPr lang="en-US" altLang="zh-CN"/>
              <a:t>“</a:t>
            </a:r>
            <a:r>
              <a:rPr lang="zh-CN" altLang="en-US"/>
              <a:t>来回找解释</a:t>
            </a:r>
            <a:r>
              <a:rPr lang="en-US" altLang="zh-CN"/>
              <a:t>”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5"/>
            </p:custDataLst>
          </p:nvPr>
        </p:nvSpPr>
        <p:spPr>
          <a:xfrm>
            <a:off x="5969000" y="1658620"/>
            <a:ext cx="9721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 fontAlgn="auto">
              <a:spcAft>
                <a:spcPts val="400"/>
              </a:spcAft>
              <a:buFont typeface="+mj-lt"/>
              <a:buNone/>
            </a:pPr>
            <a:r>
              <a:rPr lang="zh-CN" sz="1400">
                <a:solidFill>
                  <a:srgbClr val="C00000"/>
                </a:solidFill>
              </a:rPr>
              <a:t>不同板块，双倍间距</a:t>
            </a:r>
            <a:endParaRPr lang="zh-CN" sz="1400">
              <a:solidFill>
                <a:srgbClr val="C00000"/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6838315" y="1804035"/>
            <a:ext cx="1005840" cy="571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V="1">
            <a:off x="6839585" y="1896745"/>
            <a:ext cx="1005840" cy="571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V="1">
            <a:off x="6835775" y="2018665"/>
            <a:ext cx="1005840" cy="571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V="1">
            <a:off x="6840855" y="2069465"/>
            <a:ext cx="1005840" cy="571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V="1">
            <a:off x="6895465" y="4338955"/>
            <a:ext cx="1005840" cy="571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V="1">
            <a:off x="6896735" y="4431665"/>
            <a:ext cx="1005840" cy="571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flipV="1">
            <a:off x="6890385" y="4553585"/>
            <a:ext cx="1005840" cy="571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 flipV="1">
            <a:off x="6895465" y="4604385"/>
            <a:ext cx="1005840" cy="571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10739120" y="1026160"/>
            <a:ext cx="20320" cy="5659120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7137400" y="1030605"/>
            <a:ext cx="20320" cy="5659120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 flipH="1">
            <a:off x="6944995" y="1328420"/>
            <a:ext cx="3977005" cy="9525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flipH="1">
            <a:off x="6944995" y="6543675"/>
            <a:ext cx="3977005" cy="9525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>
            <p:custDataLst>
              <p:tags r:id="rId6"/>
            </p:custDataLst>
          </p:nvPr>
        </p:nvSpPr>
        <p:spPr>
          <a:xfrm>
            <a:off x="10972800" y="2824480"/>
            <a:ext cx="97282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 fontAlgn="auto">
              <a:spcAft>
                <a:spcPts val="400"/>
              </a:spcAft>
              <a:buFont typeface="+mj-lt"/>
              <a:buNone/>
            </a:pPr>
            <a:r>
              <a:rPr lang="zh-CN" altLang="en-US" sz="1400">
                <a:solidFill>
                  <a:srgbClr val="C00000"/>
                </a:solidFill>
              </a:rPr>
              <a:t>所有内容不超过右侧虚线</a:t>
            </a:r>
            <a:endParaRPr lang="zh-CN" altLang="en-US" sz="1400">
              <a:solidFill>
                <a:srgbClr val="C00000"/>
              </a:solidFill>
            </a:endParaRPr>
          </a:p>
        </p:txBody>
      </p:sp>
      <p:sp>
        <p:nvSpPr>
          <p:cNvPr id="38" name="文本框 37"/>
          <p:cNvSpPr txBox="1"/>
          <p:nvPr>
            <p:custDataLst>
              <p:tags r:id="rId7"/>
            </p:custDataLst>
          </p:nvPr>
        </p:nvSpPr>
        <p:spPr>
          <a:xfrm>
            <a:off x="10972800" y="5948045"/>
            <a:ext cx="97282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 fontAlgn="auto">
              <a:spcAft>
                <a:spcPts val="400"/>
              </a:spcAft>
              <a:buFont typeface="+mj-lt"/>
              <a:buNone/>
            </a:pPr>
            <a:r>
              <a:rPr lang="zh-CN" altLang="en-US" sz="1400">
                <a:solidFill>
                  <a:srgbClr val="C00000"/>
                </a:solidFill>
              </a:rPr>
              <a:t>上下内容不超过虚线位置</a:t>
            </a:r>
            <a:endParaRPr lang="zh-CN" altLang="en-US" sz="140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74675" y="205105"/>
            <a:ext cx="2626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制作流程与框架</a:t>
            </a:r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11450" y="205105"/>
            <a:ext cx="2626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翻译策略</a:t>
            </a:r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006340" y="205105"/>
            <a:ext cx="2626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tx1"/>
                </a:solidFill>
              </a:rPr>
              <a:t>排版与视觉设计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524500" y="554355"/>
            <a:ext cx="1584000" cy="54000"/>
          </a:xfrm>
          <a:prstGeom prst="roundRect">
            <a:avLst/>
          </a:prstGeom>
          <a:solidFill>
            <a:srgbClr val="0689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482600" y="796290"/>
            <a:ext cx="38855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800" b="1">
                <a:solidFill>
                  <a:srgbClr val="0689FE"/>
                </a:solidFill>
              </a:rPr>
              <a:t>色彩搭配与图标选择</a:t>
            </a:r>
            <a:endParaRPr lang="en-US" altLang="zh-CN" sz="2800" b="1">
              <a:solidFill>
                <a:srgbClr val="0689FE"/>
              </a:solidFill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534035" y="1420495"/>
            <a:ext cx="5667375" cy="20097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 fontAlgn="auto">
              <a:spcAft>
                <a:spcPts val="400"/>
              </a:spcAft>
              <a:buFont typeface="+mj-lt"/>
              <a:buNone/>
            </a:pPr>
            <a:r>
              <a:rPr lang="zh-CN" altLang="en-US" b="1">
                <a:solidFill>
                  <a:srgbClr val="0689FE"/>
                </a:solidFill>
              </a:rPr>
              <a:t>色彩搭配</a:t>
            </a:r>
            <a:endParaRPr lang="en-US" altLang="zh-CN">
              <a:solidFill>
                <a:srgbClr val="0689FE"/>
              </a:solidFill>
            </a:endParaRPr>
          </a:p>
          <a:p>
            <a:pPr marL="28575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b="1"/>
              <a:t>主色调</a:t>
            </a:r>
            <a:r>
              <a:rPr lang="zh-CN" altLang="en-US"/>
              <a:t>：</a:t>
            </a:r>
            <a:r>
              <a:rPr lang="en-US" altLang="zh-CN"/>
              <a:t> </a:t>
            </a:r>
            <a:r>
              <a:rPr lang="zh-CN" altLang="en-US"/>
              <a:t>科技蓝</a:t>
            </a:r>
            <a:endParaRPr lang="zh-CN" altLang="en-US"/>
          </a:p>
          <a:p>
            <a:pPr marL="742950" lvl="1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/>
              <a:t>来源：</a:t>
            </a:r>
            <a:r>
              <a:rPr lang="en-US" altLang="zh-CN"/>
              <a:t> </a:t>
            </a:r>
            <a:r>
              <a:rPr lang="zh-CN" altLang="en-US"/>
              <a:t>取自优译公司</a:t>
            </a:r>
            <a:r>
              <a:rPr lang="en-US" altLang="zh-CN"/>
              <a:t> Logo </a:t>
            </a:r>
            <a:r>
              <a:rPr lang="zh-CN" altLang="en-US"/>
              <a:t>色。</a:t>
            </a:r>
            <a:endParaRPr lang="zh-CN" altLang="en-US"/>
          </a:p>
          <a:p>
            <a:pPr marL="742950" lvl="1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/>
              <a:t>寓意：</a:t>
            </a:r>
            <a:r>
              <a:rPr lang="en-US" altLang="zh-CN"/>
              <a:t> </a:t>
            </a:r>
            <a:r>
              <a:rPr lang="zh-CN" altLang="en-US"/>
              <a:t>稳重、专业、科技感。</a:t>
            </a:r>
            <a:endParaRPr lang="zh-CN" altLang="en-US"/>
          </a:p>
          <a:p>
            <a:pPr marL="28575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b="1"/>
              <a:t>点缀色</a:t>
            </a:r>
            <a:r>
              <a:rPr lang="zh-CN" altLang="en-US"/>
              <a:t>：</a:t>
            </a:r>
            <a:r>
              <a:rPr lang="en-US" altLang="zh-CN"/>
              <a:t> </a:t>
            </a:r>
            <a:r>
              <a:rPr lang="zh-CN" altLang="en-US"/>
              <a:t>活力红</a:t>
            </a:r>
            <a:r>
              <a:rPr lang="en-US" altLang="zh-CN"/>
              <a:t>/</a:t>
            </a:r>
            <a:r>
              <a:rPr lang="zh-CN" altLang="en-US"/>
              <a:t>橙</a:t>
            </a:r>
            <a:endParaRPr lang="zh-CN" altLang="en-US"/>
          </a:p>
          <a:p>
            <a:pPr marL="28575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b="1"/>
              <a:t>背景</a:t>
            </a:r>
            <a:r>
              <a:rPr lang="zh-CN" altLang="en-US"/>
              <a:t>：</a:t>
            </a:r>
            <a:r>
              <a:rPr lang="en-US" altLang="zh-CN"/>
              <a:t> </a:t>
            </a:r>
            <a:r>
              <a:rPr lang="zh-CN" altLang="en-US"/>
              <a:t>大量留白，确保阅读时的</a:t>
            </a:r>
            <a:r>
              <a:rPr lang="en-US" altLang="zh-CN"/>
              <a:t>“</a:t>
            </a:r>
            <a:r>
              <a:rPr lang="zh-CN" altLang="en-US"/>
              <a:t>呼吸感</a:t>
            </a:r>
            <a:r>
              <a:rPr lang="en-US" altLang="zh-CN"/>
              <a:t>”</a:t>
            </a:r>
            <a:r>
              <a:rPr lang="zh-CN" altLang="en-US"/>
              <a:t>。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455" y="1030605"/>
            <a:ext cx="3970655" cy="565785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0" name="椭圆 19"/>
          <p:cNvSpPr/>
          <p:nvPr/>
        </p:nvSpPr>
        <p:spPr>
          <a:xfrm>
            <a:off x="9104630" y="-2566670"/>
            <a:ext cx="4959985" cy="4507230"/>
          </a:xfrm>
          <a:prstGeom prst="ellipse">
            <a:avLst/>
          </a:prstGeom>
          <a:gradFill>
            <a:gsLst>
              <a:gs pos="0">
                <a:srgbClr val="064BFE"/>
              </a:gs>
              <a:gs pos="78000">
                <a:srgbClr val="06C7FE"/>
              </a:gs>
            </a:gsLst>
            <a:lin ang="2880000" scaled="0"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左大括号 11"/>
          <p:cNvSpPr/>
          <p:nvPr/>
        </p:nvSpPr>
        <p:spPr>
          <a:xfrm rot="10800000">
            <a:off x="10059035" y="1454150"/>
            <a:ext cx="437515" cy="487045"/>
          </a:xfrm>
          <a:prstGeom prst="leftBrace">
            <a:avLst>
              <a:gd name="adj1" fmla="val 8333"/>
              <a:gd name="adj2" fmla="val 50551"/>
            </a:avLst>
          </a:prstGeom>
          <a:ln>
            <a:solidFill>
              <a:srgbClr val="0689F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10636250" y="1318260"/>
            <a:ext cx="1416685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 fontAlgn="auto">
              <a:spcAft>
                <a:spcPts val="400"/>
              </a:spcAft>
              <a:buFont typeface="+mj-lt"/>
              <a:buNone/>
            </a:pPr>
            <a:r>
              <a:rPr lang="zh-CN" altLang="en-US" sz="1400">
                <a:solidFill>
                  <a:srgbClr val="C00000"/>
                </a:solidFill>
              </a:rPr>
              <a:t>主标题、二级标题和特殊设计，采用优译公司</a:t>
            </a:r>
            <a:r>
              <a:rPr lang="en-US" altLang="zh-CN" sz="1400">
                <a:solidFill>
                  <a:srgbClr val="C00000"/>
                </a:solidFill>
              </a:rPr>
              <a:t>Logo</a:t>
            </a:r>
            <a:r>
              <a:rPr lang="zh-CN" altLang="en-US" sz="1400">
                <a:solidFill>
                  <a:srgbClr val="C00000"/>
                </a:solidFill>
              </a:rPr>
              <a:t>主题色</a:t>
            </a:r>
            <a:endParaRPr lang="zh-CN" altLang="en-US" sz="1400">
              <a:solidFill>
                <a:srgbClr val="C00000"/>
              </a:solidFill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6487160" y="1186815"/>
            <a:ext cx="3432175" cy="1027430"/>
          </a:xfrm>
          <a:prstGeom prst="ellipse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6419850" y="3653155"/>
            <a:ext cx="2081530" cy="500380"/>
          </a:xfrm>
          <a:prstGeom prst="ellipse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6487160" y="4877435"/>
            <a:ext cx="3716655" cy="1902460"/>
          </a:xfrm>
          <a:prstGeom prst="ellipse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左大括号 13"/>
          <p:cNvSpPr/>
          <p:nvPr/>
        </p:nvSpPr>
        <p:spPr>
          <a:xfrm rot="10800000">
            <a:off x="10318750" y="5523865"/>
            <a:ext cx="304800" cy="527050"/>
          </a:xfrm>
          <a:prstGeom prst="leftBrace">
            <a:avLst>
              <a:gd name="adj1" fmla="val 8333"/>
              <a:gd name="adj2" fmla="val 50551"/>
            </a:avLst>
          </a:prstGeom>
          <a:ln>
            <a:solidFill>
              <a:srgbClr val="0689F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5"/>
            </p:custDataLst>
          </p:nvPr>
        </p:nvSpPr>
        <p:spPr>
          <a:xfrm>
            <a:off x="10631170" y="5346700"/>
            <a:ext cx="128968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 fontAlgn="auto">
              <a:spcAft>
                <a:spcPts val="400"/>
              </a:spcAft>
              <a:buFont typeface="+mj-lt"/>
              <a:buNone/>
            </a:pPr>
            <a:r>
              <a:rPr lang="zh-CN" sz="1400">
                <a:solidFill>
                  <a:srgbClr val="C00000"/>
                </a:solidFill>
              </a:rPr>
              <a:t>配图以蓝色为主，灰色为辅，其它颜色作为点缀</a:t>
            </a:r>
            <a:endParaRPr lang="zh-CN" sz="1400">
              <a:solidFill>
                <a:srgbClr val="C00000"/>
              </a:solidFill>
            </a:endParaRPr>
          </a:p>
        </p:txBody>
      </p:sp>
      <p:sp>
        <p:nvSpPr>
          <p:cNvPr id="17" name="文本框 16"/>
          <p:cNvSpPr txBox="1"/>
          <p:nvPr>
            <p:custDataLst>
              <p:tags r:id="rId6"/>
            </p:custDataLst>
          </p:nvPr>
        </p:nvSpPr>
        <p:spPr>
          <a:xfrm>
            <a:off x="455295" y="3546475"/>
            <a:ext cx="5840730" cy="26663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 fontAlgn="auto">
              <a:spcAft>
                <a:spcPts val="400"/>
              </a:spcAft>
              <a:buFont typeface="+mj-lt"/>
              <a:buNone/>
            </a:pPr>
            <a:r>
              <a:rPr lang="zh-CN" altLang="en-US" b="1">
                <a:solidFill>
                  <a:srgbClr val="0689FE"/>
                </a:solidFill>
              </a:rPr>
              <a:t>图标选择</a:t>
            </a:r>
            <a:endParaRPr lang="en-US" altLang="zh-CN">
              <a:solidFill>
                <a:srgbClr val="0689FE"/>
              </a:solidFill>
            </a:endParaRPr>
          </a:p>
          <a:p>
            <a:pPr marL="28575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b="1"/>
              <a:t>核心原则：</a:t>
            </a:r>
            <a:r>
              <a:rPr lang="zh-CN" altLang="en-US"/>
              <a:t>简洁统一，服务内容</a:t>
            </a:r>
            <a:endParaRPr lang="zh-CN" altLang="en-US"/>
          </a:p>
          <a:p>
            <a:pPr marL="742950" lvl="1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/>
              <a:t>所有图标采用简约设计风格，保证页面整洁专业</a:t>
            </a:r>
            <a:endParaRPr lang="zh-CN" altLang="en-US"/>
          </a:p>
          <a:p>
            <a:pPr marL="742950" lvl="1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/>
              <a:t>主题色为</a:t>
            </a:r>
            <a:r>
              <a:rPr lang="en-US" altLang="zh-CN"/>
              <a:t>Yeemaa </a:t>
            </a:r>
            <a:r>
              <a:rPr lang="zh-CN" altLang="en-US"/>
              <a:t>蓝，辅以渐变或点缀色强调重点</a:t>
            </a:r>
            <a:endParaRPr lang="zh-CN" altLang="en-US"/>
          </a:p>
          <a:p>
            <a:pPr marL="28575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b="1"/>
              <a:t>图标使用规范</a:t>
            </a:r>
            <a:endParaRPr lang="zh-CN" altLang="en-US" b="1"/>
          </a:p>
          <a:p>
            <a:pPr marL="742950" lvl="1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/>
              <a:t>同一板块内图标风格统一，保持视觉一致性</a:t>
            </a:r>
            <a:endParaRPr lang="zh-CN" altLang="en-US"/>
          </a:p>
          <a:p>
            <a:pPr marL="742950" lvl="1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/>
              <a:t>图标内容严格对应文字说明，确保图文对应</a:t>
            </a:r>
            <a:endParaRPr lang="zh-CN" altLang="en-US"/>
          </a:p>
          <a:p>
            <a:pPr marL="742950" lvl="1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/>
              <a:t>图标仅用于辅助说明与强化理解，避免干扰阅读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74675" y="205105"/>
            <a:ext cx="2626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制作流程与框架</a:t>
            </a:r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11450" y="205105"/>
            <a:ext cx="2626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翻译策略</a:t>
            </a:r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006340" y="205105"/>
            <a:ext cx="2626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tx1"/>
                </a:solidFill>
              </a:rPr>
              <a:t>排版与视觉设计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524500" y="554355"/>
            <a:ext cx="1584000" cy="54000"/>
          </a:xfrm>
          <a:prstGeom prst="roundRect">
            <a:avLst/>
          </a:prstGeom>
          <a:solidFill>
            <a:srgbClr val="0689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482600" y="796290"/>
            <a:ext cx="38855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800" b="1">
                <a:solidFill>
                  <a:srgbClr val="0689FE"/>
                </a:solidFill>
              </a:rPr>
              <a:t>配图设计</a:t>
            </a:r>
            <a:endParaRPr lang="zh-CN" altLang="en-US" sz="2800" b="1">
              <a:solidFill>
                <a:srgbClr val="0689FE"/>
              </a:solidFill>
            </a:endParaRPr>
          </a:p>
        </p:txBody>
      </p:sp>
      <p:sp>
        <p:nvSpPr>
          <p:cNvPr id="16" name="文本框 15"/>
          <p:cNvSpPr txBox="1"/>
          <p:nvPr>
            <p:custDataLst>
              <p:tags r:id="rId2"/>
            </p:custDataLst>
          </p:nvPr>
        </p:nvSpPr>
        <p:spPr>
          <a:xfrm>
            <a:off x="482600" y="1431925"/>
            <a:ext cx="5667375" cy="1353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 fontAlgn="auto">
              <a:spcAft>
                <a:spcPts val="400"/>
              </a:spcAft>
              <a:buFont typeface="+mj-lt"/>
              <a:buNone/>
            </a:pPr>
            <a:r>
              <a:rPr lang="zh-CN" altLang="en-US" b="1">
                <a:solidFill>
                  <a:srgbClr val="0689FE"/>
                </a:solidFill>
              </a:rPr>
              <a:t>核心原则</a:t>
            </a:r>
            <a:endParaRPr lang="zh-CN" altLang="en-US" b="1">
              <a:solidFill>
                <a:srgbClr val="0689FE"/>
              </a:solidFill>
            </a:endParaRPr>
          </a:p>
          <a:p>
            <a:pPr marL="28575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b="1"/>
              <a:t>辅助理解</a:t>
            </a:r>
            <a:r>
              <a:rPr lang="zh-CN" altLang="en-US"/>
              <a:t>，不喧宾夺主</a:t>
            </a:r>
            <a:endParaRPr lang="zh-CN" altLang="en-US"/>
          </a:p>
          <a:p>
            <a:pPr marL="28575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/>
              <a:t>图片来源于正文，清晰对应文字，降低理解成本</a:t>
            </a:r>
            <a:endParaRPr lang="zh-CN" altLang="en-US"/>
          </a:p>
          <a:p>
            <a:pPr marL="28575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/>
              <a:t>强调</a:t>
            </a:r>
            <a:r>
              <a:rPr lang="zh-CN" altLang="en-US" b="1"/>
              <a:t>逻辑与结构</a:t>
            </a:r>
            <a:r>
              <a:rPr lang="zh-CN" altLang="en-US"/>
              <a:t>，而非单纯装饰</a:t>
            </a:r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471805" y="2831465"/>
            <a:ext cx="5667375" cy="21837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 fontAlgn="auto">
              <a:spcAft>
                <a:spcPts val="400"/>
              </a:spcAft>
              <a:buFont typeface="+mj-lt"/>
              <a:buNone/>
            </a:pPr>
            <a:r>
              <a:rPr lang="zh-CN" altLang="en-US" b="1">
                <a:solidFill>
                  <a:srgbClr val="0689FE"/>
                </a:solidFill>
                <a:sym typeface="+mn-ea"/>
              </a:rPr>
              <a:t>图形类型与功能</a:t>
            </a:r>
            <a:endParaRPr lang="zh-CN" altLang="en-US" b="1">
              <a:solidFill>
                <a:srgbClr val="0689FE"/>
              </a:solidFill>
            </a:endParaRPr>
          </a:p>
          <a:p>
            <a:pPr marL="285750" lvl="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ym typeface="+mn-ea"/>
              </a:rPr>
              <a:t>流程图</a:t>
            </a:r>
            <a:r>
              <a:rPr lang="zh-CN" altLang="en-US">
                <a:sym typeface="+mn-ea"/>
              </a:rPr>
              <a:t>：呈现全流程管理或操作步骤，让步骤关系一目了然</a:t>
            </a:r>
            <a:endParaRPr lang="en-US" altLang="zh-CN"/>
          </a:p>
          <a:p>
            <a:pPr marL="285750" lvl="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ym typeface="+mn-ea"/>
              </a:rPr>
              <a:t>结构图</a:t>
            </a:r>
            <a:r>
              <a:rPr lang="zh-CN" altLang="en-US">
                <a:sym typeface="+mn-ea"/>
              </a:rPr>
              <a:t>：展示平台架构或功能模块关系，快速建立整体认知</a:t>
            </a:r>
            <a:endParaRPr lang="en-US" altLang="zh-CN"/>
          </a:p>
          <a:p>
            <a:pPr marL="285750" lvl="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ym typeface="+mn-ea"/>
              </a:rPr>
              <a:t>操作示意图</a:t>
            </a:r>
            <a:r>
              <a:rPr lang="zh-CN" altLang="en-US">
                <a:sym typeface="+mn-ea"/>
              </a:rPr>
              <a:t>：呈现实际使用场景，帮助读者理解操作方法</a:t>
            </a:r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4"/>
            </p:custDataLst>
          </p:nvPr>
        </p:nvSpPr>
        <p:spPr>
          <a:xfrm>
            <a:off x="528955" y="5026660"/>
            <a:ext cx="5667375" cy="1353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 fontAlgn="auto">
              <a:spcAft>
                <a:spcPts val="400"/>
              </a:spcAft>
              <a:buFont typeface="+mj-lt"/>
              <a:buNone/>
            </a:pPr>
            <a:r>
              <a:rPr lang="zh-CN" altLang="en-US" b="1">
                <a:solidFill>
                  <a:srgbClr val="0689FE"/>
                </a:solidFill>
                <a:sym typeface="+mn-ea"/>
              </a:rPr>
              <a:t>设计策略</a:t>
            </a:r>
            <a:endParaRPr lang="zh-CN" altLang="en-US" b="1">
              <a:solidFill>
                <a:srgbClr val="0689FE"/>
              </a:solidFill>
            </a:endParaRPr>
          </a:p>
          <a:p>
            <a:pPr marL="285750" lvl="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/>
              <a:t>线性、简洁，</a:t>
            </a:r>
            <a:r>
              <a:rPr lang="zh-CN" altLang="en-US" b="1"/>
              <a:t>弱装饰、强信息</a:t>
            </a:r>
            <a:endParaRPr lang="en-US" altLang="zh-CN"/>
          </a:p>
          <a:p>
            <a:pPr marL="285750" lvl="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b="1"/>
              <a:t>图文配合</a:t>
            </a:r>
            <a:r>
              <a:rPr lang="zh-CN" altLang="en-US"/>
              <a:t>：文字解释逻辑，图形</a:t>
            </a:r>
            <a:r>
              <a:rPr lang="zh-CN" altLang="en-US" b="1"/>
              <a:t>降低认知负担</a:t>
            </a:r>
            <a:endParaRPr lang="en-US" altLang="zh-CN"/>
          </a:p>
          <a:p>
            <a:pPr marL="285750" lvl="0" indent="-285750" algn="just" fontAlgn="auto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/>
              <a:t>统一风格、配色和信息密度，保证</a:t>
            </a:r>
            <a:r>
              <a:rPr lang="zh-CN" altLang="en-US" b="1"/>
              <a:t>视觉一致性</a:t>
            </a:r>
            <a:endParaRPr lang="zh-CN" altLang="en-US" b="1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2555" y="1318260"/>
            <a:ext cx="5204460" cy="2156460"/>
          </a:xfrm>
          <a:prstGeom prst="rect">
            <a:avLst/>
          </a:prstGeom>
        </p:spPr>
      </p:pic>
      <p:sp>
        <p:nvSpPr>
          <p:cNvPr id="19" name="圆角矩形 18"/>
          <p:cNvSpPr/>
          <p:nvPr/>
        </p:nvSpPr>
        <p:spPr>
          <a:xfrm>
            <a:off x="6313170" y="1232535"/>
            <a:ext cx="5482590" cy="2327910"/>
          </a:xfrm>
          <a:prstGeom prst="roundRect">
            <a:avLst>
              <a:gd name="adj" fmla="val 11211"/>
            </a:avLst>
          </a:prstGeom>
          <a:noFill/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9104630" y="-3075305"/>
            <a:ext cx="4959985" cy="4507230"/>
          </a:xfrm>
          <a:prstGeom prst="ellipse">
            <a:avLst/>
          </a:prstGeom>
          <a:gradFill>
            <a:gsLst>
              <a:gs pos="0">
                <a:srgbClr val="064BFE"/>
              </a:gs>
              <a:gs pos="78000">
                <a:srgbClr val="06C7FE"/>
              </a:gs>
            </a:gsLst>
            <a:lin ang="2880000" scaled="0"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圆角矩形 21"/>
          <p:cNvSpPr/>
          <p:nvPr/>
        </p:nvSpPr>
        <p:spPr>
          <a:xfrm>
            <a:off x="6313170" y="3806825"/>
            <a:ext cx="5482590" cy="2327910"/>
          </a:xfrm>
          <a:prstGeom prst="roundRect">
            <a:avLst>
              <a:gd name="adj" fmla="val 11211"/>
            </a:avLst>
          </a:prstGeom>
          <a:noFill/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2555" y="3966845"/>
            <a:ext cx="2515870" cy="200787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9695" y="4161790"/>
            <a:ext cx="2686050" cy="1730375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7761605" y="6247765"/>
            <a:ext cx="2626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tx1"/>
                </a:solidFill>
              </a:rPr>
              <a:t>示例截图</a:t>
            </a: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654175" y="1271905"/>
            <a:ext cx="10168890" cy="238760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689FE"/>
                </a:solidFill>
              </a:rPr>
              <a:t>技术传播不仅是翻译，</a:t>
            </a:r>
            <a:br>
              <a:rPr lang="zh-CN" altLang="en-US" b="1">
                <a:solidFill>
                  <a:srgbClr val="0689FE"/>
                </a:solidFill>
              </a:rPr>
            </a:br>
            <a:r>
              <a:rPr lang="zh-CN" altLang="en-US" b="1">
                <a:solidFill>
                  <a:srgbClr val="0689FE"/>
                </a:solidFill>
              </a:rPr>
              <a:t>更是信息的重构与设计。</a:t>
            </a:r>
            <a:endParaRPr lang="zh-CN" altLang="en-US" b="1">
              <a:solidFill>
                <a:srgbClr val="0689FE"/>
              </a:solidFill>
            </a:endParaRPr>
          </a:p>
        </p:txBody>
      </p:sp>
      <p:sp>
        <p:nvSpPr>
          <p:cNvPr id="5" name="椭圆 4"/>
          <p:cNvSpPr/>
          <p:nvPr/>
        </p:nvSpPr>
        <p:spPr>
          <a:xfrm>
            <a:off x="-533400" y="-842010"/>
            <a:ext cx="3422015" cy="3422015"/>
          </a:xfrm>
          <a:prstGeom prst="ellipse">
            <a:avLst/>
          </a:prstGeom>
          <a:gradFill>
            <a:gsLst>
              <a:gs pos="0">
                <a:srgbClr val="064BFE"/>
              </a:gs>
              <a:gs pos="78000">
                <a:srgbClr val="06C7FE"/>
              </a:gs>
            </a:gsLst>
            <a:lin ang="2880000" scaled="0"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8353425" y="-2316480"/>
            <a:ext cx="4959985" cy="4507230"/>
          </a:xfrm>
          <a:prstGeom prst="ellipse">
            <a:avLst/>
          </a:prstGeom>
          <a:gradFill>
            <a:gsLst>
              <a:gs pos="0">
                <a:srgbClr val="064BFE"/>
              </a:gs>
              <a:gs pos="78000">
                <a:srgbClr val="06C7FE"/>
              </a:gs>
            </a:gsLst>
            <a:lin ang="2880000" scaled="0"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953135" y="4077335"/>
            <a:ext cx="570865" cy="589915"/>
          </a:xfrm>
          <a:prstGeom prst="ellipse">
            <a:avLst/>
          </a:prstGeom>
          <a:gradFill>
            <a:gsLst>
              <a:gs pos="0">
                <a:srgbClr val="064BFE"/>
              </a:gs>
              <a:gs pos="78000">
                <a:srgbClr val="06C7FE"/>
              </a:gs>
            </a:gsLst>
            <a:lin ang="2880000" scaled="0"/>
          </a:gradFill>
          <a:ln>
            <a:noFill/>
          </a:ln>
          <a:effectLst>
            <a:softEdge rad="1016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9780905" y="4561840"/>
            <a:ext cx="3230880" cy="3230880"/>
          </a:xfrm>
          <a:prstGeom prst="ellipse">
            <a:avLst/>
          </a:prstGeom>
          <a:gradFill>
            <a:gsLst>
              <a:gs pos="0">
                <a:srgbClr val="064BFE"/>
              </a:gs>
              <a:gs pos="78000">
                <a:srgbClr val="06C7FE"/>
              </a:gs>
            </a:gsLst>
            <a:lin ang="2880000" scaled="0"/>
          </a:gradFill>
          <a:ln>
            <a:noFill/>
          </a:ln>
          <a:effectLst>
            <a:softEdge rad="1397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153160" y="3890010"/>
            <a:ext cx="570865" cy="589915"/>
          </a:xfrm>
          <a:prstGeom prst="ellipse">
            <a:avLst/>
          </a:prstGeom>
          <a:gradFill>
            <a:gsLst>
              <a:gs pos="0">
                <a:srgbClr val="064BFE"/>
              </a:gs>
              <a:gs pos="78000">
                <a:srgbClr val="06C7FE"/>
              </a:gs>
            </a:gsLst>
            <a:lin ang="2880000" scaled="0"/>
          </a:gradFill>
          <a:ln>
            <a:noFill/>
          </a:ln>
          <a:effectLst>
            <a:softEdge rad="1016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4512310" y="4838700"/>
            <a:ext cx="863600" cy="892175"/>
          </a:xfrm>
          <a:prstGeom prst="ellipse">
            <a:avLst/>
          </a:prstGeom>
          <a:gradFill>
            <a:gsLst>
              <a:gs pos="0">
                <a:srgbClr val="064BFE"/>
              </a:gs>
              <a:gs pos="78000">
                <a:srgbClr val="06C7FE"/>
              </a:gs>
            </a:gsLst>
            <a:lin ang="2880000" scaled="0"/>
          </a:gradFill>
          <a:ln>
            <a:noFill/>
          </a:ln>
          <a:effectLst>
            <a:softEdge rad="3429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1887220" y="5325110"/>
            <a:ext cx="886460" cy="916305"/>
          </a:xfrm>
          <a:prstGeom prst="ellipse">
            <a:avLst/>
          </a:prstGeom>
          <a:gradFill>
            <a:gsLst>
              <a:gs pos="0">
                <a:srgbClr val="064BFE"/>
              </a:gs>
              <a:gs pos="78000">
                <a:srgbClr val="06C7FE"/>
              </a:gs>
            </a:gsLst>
            <a:lin ang="2880000" scaled="0"/>
          </a:gradFill>
          <a:ln>
            <a:noFill/>
          </a:ln>
          <a:effectLst>
            <a:softEdge rad="2413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标题 1"/>
          <p:cNvSpPr>
            <a:spLocks noGrp="1"/>
          </p:cNvSpPr>
          <p:nvPr/>
        </p:nvSpPr>
        <p:spPr>
          <a:xfrm>
            <a:off x="1334135" y="3645535"/>
            <a:ext cx="10168890" cy="15671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>
                <a:solidFill>
                  <a:srgbClr val="0689FE"/>
                </a:solidFill>
              </a:rPr>
              <a:t>感谢您的评审！</a:t>
            </a:r>
            <a:endParaRPr lang="zh-CN" altLang="en-US" b="1">
              <a:solidFill>
                <a:srgbClr val="0689FE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3.2,&quot;left&quot;:38,&quot;top&quot;:71.5,&quot;width&quot;:922}"/>
</p:tagLst>
</file>

<file path=ppt/tags/tag2.xml><?xml version="1.0" encoding="utf-8"?>
<p:tagLst xmlns:p="http://schemas.openxmlformats.org/presentationml/2006/main">
  <p:tag name="KSO_WM_DIAGRAM_VIRTUALLY_FRAME" val="{&quot;height&quot;:303.2,&quot;left&quot;:38,&quot;top&quot;:71.5,&quot;width&quot;:922}"/>
</p:tagLst>
</file>

<file path=ppt/tags/tag3.xml><?xml version="1.0" encoding="utf-8"?>
<p:tagLst xmlns:p="http://schemas.openxmlformats.org/presentationml/2006/main">
  <p:tag name="KSO_WM_DIAGRAM_VIRTUALLY_FRAME" val="{&quot;height&quot;:303.2,&quot;left&quot;:38,&quot;top&quot;:71.5,&quot;width&quot;:922}"/>
</p:tagLst>
</file>

<file path=ppt/tags/tag4.xml><?xml version="1.0" encoding="utf-8"?>
<p:tagLst xmlns:p="http://schemas.openxmlformats.org/presentationml/2006/main">
  <p:tag name="KSO_WM_DIAGRAM_VIRTUALLY_FRAME" val="{&quot;height&quot;:303.2,&quot;left&quot;:38,&quot;top&quot;:71.5,&quot;width&quot;:922}"/>
</p:tagLst>
</file>

<file path=ppt/tags/tag5.xml><?xml version="1.0" encoding="utf-8"?>
<p:tagLst xmlns:p="http://schemas.openxmlformats.org/presentationml/2006/main">
  <p:tag name="KSO_WM_DIAGRAM_VIRTUALLY_FRAME" val="{&quot;height&quot;:303.2,&quot;left&quot;:38,&quot;top&quot;:71.5,&quot;width&quot;:922}"/>
</p:tagLst>
</file>

<file path=ppt/tags/tag6.xml><?xml version="1.0" encoding="utf-8"?>
<p:tagLst xmlns:p="http://schemas.openxmlformats.org/presentationml/2006/main">
  <p:tag name="KSO_WM_DIAGRAM_VIRTUALLY_FRAME" val="{&quot;height&quot;:303.2,&quot;left&quot;:38,&quot;top&quot;:71.5,&quot;width&quot;:922}"/>
</p:tagLst>
</file>

<file path=ppt/tags/tag7.xml><?xml version="1.0" encoding="utf-8"?>
<p:tagLst xmlns:p="http://schemas.openxmlformats.org/presentationml/2006/main">
  <p:tag name="KSO_WM_DIAGRAM_VIRTUALLY_FRAME" val="{&quot;height&quot;:303.2,&quot;left&quot;:38,&quot;top&quot;:71.5,&quot;width&quot;:922}"/>
</p:tagLst>
</file>

<file path=ppt/tags/tag8.xml><?xml version="1.0" encoding="utf-8"?>
<p:tagLst xmlns:p="http://schemas.openxmlformats.org/presentationml/2006/main">
  <p:tag name="KSO_WM_DIAGRAM_VIRTUALLY_FRAME" val="{&quot;height&quot;:303.2,&quot;left&quot;:38,&quot;top&quot;:71.5,&quot;width&quot;:922}"/>
</p:tagLst>
</file>

<file path=ppt/tags/tag9.xml><?xml version="1.0" encoding="utf-8"?>
<p:tagLst xmlns:p="http://schemas.openxmlformats.org/presentationml/2006/main">
  <p:tag name="KSO_WM_DIAGRAM_VIRTUALLY_FRAME" val="{&quot;height&quot;:303.2,&quot;left&quot;:38,&quot;top&quot;:71.5,&quot;width&quot;:922}"/>
</p:tagLst>
</file>

<file path=ppt/tags/tag10.xml><?xml version="1.0" encoding="utf-8"?>
<p:tagLst xmlns:p="http://schemas.openxmlformats.org/presentationml/2006/main">
  <p:tag name="KSO_WM_DIAGRAM_VIRTUALLY_FRAME" val="{&quot;height&quot;:303.2,&quot;left&quot;:38,&quot;top&quot;:71.5,&quot;width&quot;:922}"/>
</p:tagLst>
</file>

<file path=ppt/tags/tag11.xml><?xml version="1.0" encoding="utf-8"?>
<p:tagLst xmlns:p="http://schemas.openxmlformats.org/presentationml/2006/main">
  <p:tag name="KSO_WM_DIAGRAM_VIRTUALLY_FRAME" val="{&quot;height&quot;:303.2,&quot;left&quot;:38,&quot;top&quot;:71.5,&quot;width&quot;:922}"/>
</p:tagLst>
</file>

<file path=ppt/tags/tag12.xml><?xml version="1.0" encoding="utf-8"?>
<p:tagLst xmlns:p="http://schemas.openxmlformats.org/presentationml/2006/main">
  <p:tag name="KSO_WM_DIAGRAM_VIRTUALLY_FRAME" val="{&quot;height&quot;:303.2,&quot;left&quot;:38,&quot;top&quot;:71.5,&quot;width&quot;:922}"/>
</p:tagLst>
</file>

<file path=ppt/tags/tag13.xml><?xml version="1.0" encoding="utf-8"?>
<p:tagLst xmlns:p="http://schemas.openxmlformats.org/presentationml/2006/main">
  <p:tag name="KSO_WM_DIAGRAM_VIRTUALLY_FRAME" val="{&quot;height&quot;:303.2,&quot;left&quot;:38,&quot;top&quot;:71.5,&quot;width&quot;:922}"/>
</p:tagLst>
</file>

<file path=ppt/tags/tag14.xml><?xml version="1.0" encoding="utf-8"?>
<p:tagLst xmlns:p="http://schemas.openxmlformats.org/presentationml/2006/main">
  <p:tag name="KSO_WM_DIAGRAM_VIRTUALLY_FRAME" val="{&quot;height&quot;:303.2,&quot;left&quot;:38,&quot;top&quot;:71.5,&quot;width&quot;:922}"/>
</p:tagLst>
</file>

<file path=ppt/tags/tag15.xml><?xml version="1.0" encoding="utf-8"?>
<p:tagLst xmlns:p="http://schemas.openxmlformats.org/presentationml/2006/main">
  <p:tag name="KSO_WM_DIAGRAM_VIRTUALLY_FRAME" val="{&quot;height&quot;:303.2,&quot;left&quot;:38,&quot;top&quot;:71.5,&quot;width&quot;:922}"/>
</p:tagLst>
</file>

<file path=ppt/tags/tag16.xml><?xml version="1.0" encoding="utf-8"?>
<p:tagLst xmlns:p="http://schemas.openxmlformats.org/presentationml/2006/main">
  <p:tag name="KSO_WM_DIAGRAM_VIRTUALLY_FRAME" val="{&quot;height&quot;:303.2,&quot;left&quot;:38,&quot;top&quot;:71.5,&quot;width&quot;:922}"/>
</p:tagLst>
</file>

<file path=ppt/tags/tag17.xml><?xml version="1.0" encoding="utf-8"?>
<p:tagLst xmlns:p="http://schemas.openxmlformats.org/presentationml/2006/main">
  <p:tag name="KSO_WM_DIAGRAM_VIRTUALLY_FRAME" val="{&quot;height&quot;:303.2,&quot;left&quot;:38,&quot;top&quot;:71.5,&quot;width&quot;:922}"/>
</p:tagLst>
</file>

<file path=ppt/tags/tag18.xml><?xml version="1.0" encoding="utf-8"?>
<p:tagLst xmlns:p="http://schemas.openxmlformats.org/presentationml/2006/main">
  <p:tag name="KSO_WM_DIAGRAM_VIRTUALLY_FRAME" val="{&quot;height&quot;:303.2,&quot;left&quot;:38,&quot;top&quot;:71.5,&quot;width&quot;:922}"/>
</p:tagLst>
</file>

<file path=ppt/tags/tag19.xml><?xml version="1.0" encoding="utf-8"?>
<p:tagLst xmlns:p="http://schemas.openxmlformats.org/presentationml/2006/main">
  <p:tag name="KSO_WM_DIAGRAM_VIRTUALLY_FRAME" val="{&quot;height&quot;:303.2,&quot;left&quot;:38,&quot;top&quot;:71.5,&quot;width&quot;:922}"/>
</p:tagLst>
</file>

<file path=ppt/tags/tag20.xml><?xml version="1.0" encoding="utf-8"?>
<p:tagLst xmlns:p="http://schemas.openxmlformats.org/presentationml/2006/main">
  <p:tag name="KSO_WM_DIAGRAM_VIRTUALLY_FRAME" val="{&quot;height&quot;:303.2,&quot;left&quot;:38,&quot;top&quot;:71.5,&quot;width&quot;:922}"/>
</p:tagLst>
</file>

<file path=ppt/tags/tag21.xml><?xml version="1.0" encoding="utf-8"?>
<p:tagLst xmlns:p="http://schemas.openxmlformats.org/presentationml/2006/main">
  <p:tag name="KSO_WM_DIAGRAM_VIRTUALLY_FRAME" val="{&quot;height&quot;:303.2,&quot;left&quot;:38,&quot;top&quot;:71.5,&quot;width&quot;:922}"/>
</p:tagLst>
</file>

<file path=ppt/tags/tag22.xml><?xml version="1.0" encoding="utf-8"?>
<p:tagLst xmlns:p="http://schemas.openxmlformats.org/presentationml/2006/main">
  <p:tag name="KSO_WM_DIAGRAM_VIRTUALLY_FRAME" val="{&quot;height&quot;:303.2,&quot;left&quot;:38,&quot;top&quot;:71.5,&quot;width&quot;:922}"/>
</p:tagLst>
</file>

<file path=ppt/tags/tag23.xml><?xml version="1.0" encoding="utf-8"?>
<p:tagLst xmlns:p="http://schemas.openxmlformats.org/presentationml/2006/main">
  <p:tag name="KSO_WM_DIAGRAM_VIRTUALLY_FRAME" val="{&quot;height&quot;:303.2,&quot;left&quot;:38,&quot;top&quot;:71.5,&quot;width&quot;:922}"/>
</p:tagLst>
</file>

<file path=ppt/tags/tag24.xml><?xml version="1.0" encoding="utf-8"?>
<p:tagLst xmlns:p="http://schemas.openxmlformats.org/presentationml/2006/main">
  <p:tag name="KSO_WM_DIAGRAM_VIRTUALLY_FRAME" val="{&quot;height&quot;:303.2,&quot;left&quot;:38,&quot;top&quot;:71.5,&quot;width&quot;:922}"/>
</p:tagLst>
</file>

<file path=ppt/tags/tag25.xml><?xml version="1.0" encoding="utf-8"?>
<p:tagLst xmlns:p="http://schemas.openxmlformats.org/presentationml/2006/main">
  <p:tag name="KSO_WM_DIAGRAM_VIRTUALLY_FRAME" val="{&quot;height&quot;:303.2,&quot;left&quot;:38,&quot;top&quot;:71.5,&quot;width&quot;:922}"/>
</p:tagLst>
</file>

<file path=ppt/tags/tag26.xml><?xml version="1.0" encoding="utf-8"?>
<p:tagLst xmlns:p="http://schemas.openxmlformats.org/presentationml/2006/main">
  <p:tag name="KSO_WM_DIAGRAM_VIRTUALLY_FRAME" val="{&quot;height&quot;:303.2,&quot;left&quot;:38,&quot;top&quot;:71.5,&quot;width&quot;:922}"/>
</p:tagLst>
</file>

<file path=ppt/tags/tag27.xml><?xml version="1.0" encoding="utf-8"?>
<p:tagLst xmlns:p="http://schemas.openxmlformats.org/presentationml/2006/main">
  <p:tag name="KSO_WM_DIAGRAM_VIRTUALLY_FRAME" val="{&quot;height&quot;:303.2,&quot;left&quot;:38,&quot;top&quot;:71.5,&quot;width&quot;:922}"/>
</p:tagLst>
</file>

<file path=ppt/tags/tag28.xml><?xml version="1.0" encoding="utf-8"?>
<p:tagLst xmlns:p="http://schemas.openxmlformats.org/presentationml/2006/main">
  <p:tag name="KSO_WM_DIAGRAM_VIRTUALLY_FRAME" val="{&quot;height&quot;:303.2,&quot;left&quot;:38,&quot;top&quot;:71.5,&quot;width&quot;:922}"/>
</p:tagLst>
</file>

<file path=ppt/tags/tag29.xml><?xml version="1.0" encoding="utf-8"?>
<p:tagLst xmlns:p="http://schemas.openxmlformats.org/presentationml/2006/main">
  <p:tag name="KSO_WM_DIAGRAM_VIRTUALLY_FRAME" val="{&quot;height&quot;:303.2,&quot;left&quot;:38,&quot;top&quot;:71.5,&quot;width&quot;:922}"/>
</p:tagLst>
</file>

<file path=ppt/tags/tag30.xml><?xml version="1.0" encoding="utf-8"?>
<p:tagLst xmlns:p="http://schemas.openxmlformats.org/presentationml/2006/main">
  <p:tag name="KSO_WM_DIAGRAM_VIRTUALLY_FRAME" val="{&quot;height&quot;:303.2,&quot;left&quot;:38,&quot;top&quot;:71.5,&quot;width&quot;:922}"/>
</p:tagLst>
</file>

<file path=ppt/tags/tag31.xml><?xml version="1.0" encoding="utf-8"?>
<p:tagLst xmlns:p="http://schemas.openxmlformats.org/presentationml/2006/main">
  <p:tag name="KSO_WM_DIAGRAM_VIRTUALLY_FRAME" val="{&quot;height&quot;:303.2,&quot;left&quot;:38,&quot;top&quot;:71.5,&quot;width&quot;:922}"/>
</p:tagLst>
</file>

<file path=ppt/tags/tag32.xml><?xml version="1.0" encoding="utf-8"?>
<p:tagLst xmlns:p="http://schemas.openxmlformats.org/presentationml/2006/main">
  <p:tag name="KSO_WM_DIAGRAM_VIRTUALLY_FRAME" val="{&quot;height&quot;:303.2,&quot;left&quot;:38,&quot;top&quot;:71.5,&quot;width&quot;:922}"/>
</p:tagLst>
</file>

<file path=ppt/tags/tag33.xml><?xml version="1.0" encoding="utf-8"?>
<p:tagLst xmlns:p="http://schemas.openxmlformats.org/presentationml/2006/main">
  <p:tag name="KSO_WM_DIAGRAM_VIRTUALLY_FRAME" val="{&quot;height&quot;:303.2,&quot;left&quot;:38,&quot;top&quot;:71.5,&quot;width&quot;:922}"/>
</p:tagLst>
</file>

<file path=ppt/tags/tag34.xml><?xml version="1.0" encoding="utf-8"?>
<p:tagLst xmlns:p="http://schemas.openxmlformats.org/presentationml/2006/main">
  <p:tag name="KSO_WM_DIAGRAM_VIRTUALLY_FRAME" val="{&quot;height&quot;:303.2,&quot;left&quot;:38,&quot;top&quot;:71.5,&quot;width&quot;:922}"/>
</p:tagLst>
</file>

<file path=ppt/tags/tag35.xml><?xml version="1.0" encoding="utf-8"?>
<p:tagLst xmlns:p="http://schemas.openxmlformats.org/presentationml/2006/main">
  <p:tag name="KSO_WM_DIAGRAM_VIRTUALLY_FRAME" val="{&quot;height&quot;:303.2,&quot;left&quot;:38,&quot;top&quot;:71.5,&quot;width&quot;:922}"/>
</p:tagLst>
</file>

<file path=ppt/tags/tag36.xml><?xml version="1.0" encoding="utf-8"?>
<p:tagLst xmlns:p="http://schemas.openxmlformats.org/presentationml/2006/main">
  <p:tag name="KSO_WM_DIAGRAM_VIRTUALLY_FRAME" val="{&quot;height&quot;:303.2,&quot;left&quot;:38,&quot;top&quot;:71.5,&quot;width&quot;:922}"/>
</p:tagLst>
</file>

<file path=ppt/tags/tag37.xml><?xml version="1.0" encoding="utf-8"?>
<p:tagLst xmlns:p="http://schemas.openxmlformats.org/presentationml/2006/main">
  <p:tag name="KSO_WM_DIAGRAM_VIRTUALLY_FRAME" val="{&quot;height&quot;:303.2,&quot;left&quot;:38,&quot;top&quot;:71.5,&quot;width&quot;:922}"/>
</p:tagLst>
</file>

<file path=ppt/tags/tag38.xml><?xml version="1.0" encoding="utf-8"?>
<p:tagLst xmlns:p="http://schemas.openxmlformats.org/presentationml/2006/main">
  <p:tag name="KSO_WM_DIAGRAM_VIRTUALLY_FRAME" val="{&quot;height&quot;:303.2,&quot;left&quot;:38,&quot;top&quot;:71.5,&quot;width&quot;:922}"/>
</p:tagLst>
</file>

<file path=ppt/tags/tag39.xml><?xml version="1.0" encoding="utf-8"?>
<p:tagLst xmlns:p="http://schemas.openxmlformats.org/presentationml/2006/main">
  <p:tag name="KSO_WM_DIAGRAM_VIRTUALLY_FRAME" val="{&quot;height&quot;:303.2,&quot;left&quot;:38,&quot;top&quot;:71.5,&quot;width&quot;:922}"/>
</p:tagLst>
</file>

<file path=ppt/tags/tag40.xml><?xml version="1.0" encoding="utf-8"?>
<p:tagLst xmlns:p="http://schemas.openxmlformats.org/presentationml/2006/main">
  <p:tag name="KSO_WM_DIAGRAM_VIRTUALLY_FRAME" val="{&quot;height&quot;:303.2,&quot;left&quot;:38,&quot;top&quot;:71.5,&quot;width&quot;:922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2387</Words>
  <Application>WPS 演示</Application>
  <PresentationFormat>宽屏</PresentationFormat>
  <Paragraphs>225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译马网智能区域国别研究平台    —— 技术翻译与文档设计方案</vt:lpstr>
      <vt:lpstr>目 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技术传播不仅是翻译， 更是信息的重构与设计。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wangxiaocongxin</dc:creator>
  <cp:lastModifiedBy>Vital</cp:lastModifiedBy>
  <cp:revision>89</cp:revision>
  <dcterms:created xsi:type="dcterms:W3CDTF">2023-08-09T12:44:00Z</dcterms:created>
  <dcterms:modified xsi:type="dcterms:W3CDTF">2026-01-16T14:01:55Z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C2D84E470213458A80FED27165653FF4_12</vt:lpwstr>
  </property>
</Properties>
</file>